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011680"/>
            <a:ext cx="1109441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Sınıflandırma I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918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6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Lojistik regresyon • k-NN • karışıklık matrisi • precision / recall / F1 • ROC-AUC • eşik seçimi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Bugünün planı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6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Regresyonda hedef bir sayıydı; bu hafta hedef bir sınıf: arızalı mı, sağlam mı? İyi bir sınıflandırıcı etiket değil olasılık üretir; olasılık, kararı maliyete göre ayarlamayı mümkün kılar.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286000"/>
            <a:ext cx="11094415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Saat 1 — Sınıflandırma problemi; lojistik regresyon (sigmoid, karar sınırı, log-loss); k-NN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Saat 2 — Karışıklık matrisi; doğruluk, precision, recall, F1 (elle); dengesizlik; ROC-AUC; maliyete göre eşik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Saat 3 — Uygulama: motor_ariza.csv ile lojistik regresyon ve k-NN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Kazanımlar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6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4415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Sınıflandırma vs regresyon: çıktı ve kayıp farkı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Sigmoid ile olasılık; doğrusal karar sınırı; z'den p'yi elle hesaplamak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Log-loss'u hesaplamak; neden MSE değil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k-NN'i elle uygulamak; k ve ölçekleme etkisi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Karışıklık matrisinden ölçütler; doğruluk paradoksu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yorumu; maliyete göre eşik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Neden doğrusal regresyon değil?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6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İkili sınıflandırma: arızalı/sağlam. Çok sınıflı (hangi arıza tipi) 7. haftada.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965960"/>
            <a:ext cx="11094415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∈ {0, 1} için ŷ = w·x + b: çıktı 0-1 dışına taşar (−0.4, 1.7 'olasılık'?)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Uç örnekler doğruyu gereksiz çeker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 bu problem için yanlış kayıp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Çözüm: doğrusal skoru bir 'ezici' fonksiyondan geçir → sigmoid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Lojistik regresyon = doğrusal skor + sigmoid + doğru kayıp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Lojistik regresyon: sigmoid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6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Logit: log(p/(1−p)) = z — olasılık oranının logaritması doğrusal modellenir. w_j yorumu: x_j bir birim artınca odds e^{w_j} kat artar.</a:t>
            </a:r>
            <a:endParaRPr lang="en-US" sz="1500" dirty="0"/>
          </a:p>
        </p:txBody>
      </p:sp>
      <p:pic>
        <p:nvPicPr>
          <p:cNvPr id="6" name="Image 0" descr="/home/claude/yz_temelleri/img/sigmoi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87787" y="2286000"/>
            <a:ext cx="5816122" cy="35204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58064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= w·x + b → p = σ(z) = 1/(1+e⁻ᶻ);  p ≥ 0.5 ⇔ z ≥ 0 → karar sınırı w·x + b = 0 (doğrusal)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Örnek 6.1 — Skordan olasılığa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6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11094415" cy="4937760"/>
          </a:xfrm>
          <a:prstGeom prst="rect">
            <a:avLst/>
          </a:prstGeom>
          <a:solidFill>
            <a:srgbClr val="FBF6EE"/>
          </a:solidFill>
          <a:ln w="12700">
            <a:solidFill>
              <a:srgbClr val="E0C9A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463040"/>
            <a:ext cx="105457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= 1.8·rms + 1.1·sıcaklık − 0.5 (ölçekli). rms = 1.2, sıcaklık = 0.4 → p? karar?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377440"/>
            <a:ext cx="10545775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= 2.16 + 0.44 − 0.5 = 2.10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1/(1 + e⁻²·¹⁰) = 1/(1 + 0.1225) = 0.891 → arızalı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Odds = p/(1−p) = 8.2: arıza sağlamdan 8 kat olası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 = 0.2 olsaydı: z = 0.30, p = 0.574 — hâlâ arızalı ama kararsız. Olasılık bu nüansı verir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Kayıp: log-loss (çapraz entropi)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6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566928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 = −[y log p + (1−y) log(1−p)]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= 1: −log p → p = 0.9: 0.105; p = 0.5: 0.693; p = 0.01: 4.6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Kendinden emin yanlış çok pahalı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 + sigmoid → dışbükey olmayan yüzey; log-loss dışbükey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Gradyan: ∂L/∂w = (p − y)·x — doğrusal regresyona benzer → yine gradyan inişi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sklearn: L-BFGS; düzenlileştirme C = 1/λ varsayılan açık</a:t>
            </a:r>
            <a:endParaRPr lang="en-US" sz="1500" dirty="0"/>
          </a:p>
        </p:txBody>
      </p:sp>
      <p:pic>
        <p:nvPicPr>
          <p:cNvPr id="6" name="Image 0" descr="/home/claude/yz_temelleri/img/log_lo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2072880"/>
            <a:ext cx="5242255" cy="298656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0" y="5897880"/>
            <a:ext cx="5242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Şekil 6.2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Örnek 6.2 — Üç tahmin için log-loss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6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11094415" cy="4937760"/>
          </a:xfrm>
          <a:prstGeom prst="rect">
            <a:avLst/>
          </a:prstGeom>
          <a:solidFill>
            <a:srgbClr val="FBF6EE"/>
          </a:solidFill>
          <a:ln w="12700">
            <a:solidFill>
              <a:srgbClr val="E0C9A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463040"/>
            <a:ext cx="105457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= [1, 0, 1], p = [0.9, 0.2, 0.3]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377440"/>
            <a:ext cx="10545775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−log 0.9 = 0.105;  −log(1−0.2) = 0.223;  −log 0.3 = 1.204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Ortalama = 0.511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Üçüncü motor arızalıyken %30 demiş: en pahalı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Doğruluk 2/3 der ama 'ne kadar emindi' bilgisini atar; log-loss korur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şeye 0.5 diyen model: 0.693 → 0.511 ondan iyi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k-en yakın komşu (k-NN)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6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4415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haftanın genellemesi: en yakın k örneği bul, çoğunluk oyu (olasılık = oy oranı)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Eğitim yok (veri saklanır); tahminde tüm uzaklıklar → büyük veride yavaş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küçük: sınır her noktayı sarar, aşırı öğrenme (k=1 eğitim doğruluğu %100)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büyük: yumuşak; sonunda hep çoğunluk sınıfı (eksik öğrenme)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hiperparametre → CV; ikilide tek sayı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ÖLÇEKLEME ZORUNLU: çalışma saati (0-20000) RMS'i (0-8) ezer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Karar sınırları: lojistik vs k-NN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6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Aynı motor verisi (RMS, sıcaklık). Doğrusal sınır sade ve yorumlanabilir; k-NN eğri sınırları yakalar ama k küçükse gürültüyü de yakalar.</a:t>
            </a:r>
            <a:endParaRPr lang="en-US" sz="1500" dirty="0"/>
          </a:p>
        </p:txBody>
      </p:sp>
      <p:pic>
        <p:nvPicPr>
          <p:cNvPr id="6" name="Image 0" descr="/home/claude/yz_temelleri/img/karar_sinirlar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459130"/>
            <a:ext cx="11094415" cy="3174179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58064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Lojistik: doğrusal; k=1: her noktayı sarar; k=25: yumuşak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Örnek 6.3 — k = 3 ile elle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6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11094415" cy="4937760"/>
          </a:xfrm>
          <a:prstGeom prst="rect">
            <a:avLst/>
          </a:prstGeom>
          <a:solidFill>
            <a:srgbClr val="FBF6EE"/>
          </a:solidFill>
          <a:ln w="12700">
            <a:solidFill>
              <a:srgbClr val="E0C9A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463040"/>
            <a:ext cx="105457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Altı motor (ölçekli RMS, sıcaklık) ve yeni örnek (0.11, 0.57). Uzaklıklar: A 1.86, B 1.10, C 1.03, D 1.47, E 0.32, F 1.72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377440"/>
            <a:ext cx="64008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yakın üç: E (0.32, etiket 1), C (1.03, 1), B (1.10, 0)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Oylar 1, 1, 0 → çoğunluk 1 → arızalı; olasılık 2/3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1: sadece E → 1.  k = 5: E, C, B, D, F → 1,1,0,1,0 → 1 ama 3/5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kararı ve güveni değiştirir</a:t>
            </a:r>
            <a:endParaRPr lang="en-US" sz="1700" dirty="0"/>
          </a:p>
        </p:txBody>
      </p:sp>
      <p:pic>
        <p:nvPicPr>
          <p:cNvPr id="8" name="Image 0" descr="/home/claude/yz_temelleri/img/knn_orne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2601119"/>
            <a:ext cx="3870655" cy="311880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Karışıklık matrisi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6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Sınıflandırmada hata türleri vardır ve eşit maliyetli değildir: kaçırılan arıza (FN) = plansız duruş; yanlış alarm (FP) = gereksiz bakım ziyareti.</a:t>
            </a:r>
            <a:endParaRPr lang="en-US" sz="1500" dirty="0"/>
          </a:p>
        </p:txBody>
      </p:sp>
      <p:pic>
        <p:nvPicPr>
          <p:cNvPr id="6" name="Image 0" descr="/home/claude/yz_temelleri/img/karisiklik_matris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02316" y="2286000"/>
            <a:ext cx="5187063" cy="35204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58064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sütuna bakar (dediklerimin kaçı doğru), recall satıra (gerçeklerin kaçını yakaladım)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Sınıflandırma ölçütleri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6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94415" cy="914400"/>
        </p:xfrm>
        <a:graphic>
          <a:graphicData uri="http://schemas.openxmlformats.org/drawingml/2006/table">
            <a:tbl>
              <a:tblPr/>
              <a:tblGrid>
                <a:gridCol w="1923032"/>
                <a:gridCol w="2070958"/>
                <a:gridCol w="3846064"/>
                <a:gridCol w="325436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Ölçüt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Formül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Soru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 zaman öncelikli?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Doğruluk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(TP+TN)/N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Kaç karar doğru?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Dengeli sınıf, eşit maliyet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TP/(TP+FP)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'Arızalı' dediklerimin kaçı arızalı?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Yanlış alarm pahalı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 (TPR)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TP/(TP+FN)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Arızaların kaçını yakaladım?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Kaçırmak pahalı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Özgüllük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TN/(TN+FP)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Sağlamların kaçı sağlam?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FPR = 1 − özgüllük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2PR/(P+R)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ve R harmonik ort.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Tek sayı; dengesiz sınıf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ROC-AUC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eğri altı alan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Pozitif &gt; negatif skor olasılığı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Eşikten bağımsız karşılaştırma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Örnek 6.4 — Matristen ölçütler (elle)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6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11094415" cy="4937760"/>
          </a:xfrm>
          <a:prstGeom prst="rect">
            <a:avLst/>
          </a:prstGeom>
          <a:solidFill>
            <a:srgbClr val="FBF6EE"/>
          </a:solidFill>
          <a:ln w="12700">
            <a:solidFill>
              <a:srgbClr val="E0C9A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463040"/>
            <a:ext cx="105457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 motor, 150 arızalı. TP = 120, FN = 30, FP = 40, TN = 810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377440"/>
            <a:ext cx="10545775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Doğruluk = 930/1000 = 0.930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= 120/160 = 0.750;  Recall = 120/150 = 0.800;  Özgüllük = 810/850 = 0.953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= 2·0.75·0.80/1.55 = 0.774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'Hepsi sağlam' modeli: doğruluk 0.850, recall 0, F1 = 0 → doğruluk paradoksu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Dengesiz sınıfta: recall/precision/F1/AUC raporla</a:t>
            </a:r>
            <a:endParaRPr lang="en-US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Doğruluk paradoksu ve dengesizlik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6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Pozitif çok azsa (‰1) sınıflandırma yerine anomali tespiti (normalden sapma) yaklaşımı — 14. hafta.</a:t>
            </a:r>
            <a:endParaRPr lang="en-US" sz="1500" dirty="0"/>
          </a:p>
        </p:txBody>
      </p:sp>
      <p:pic>
        <p:nvPicPr>
          <p:cNvPr id="6" name="Image 0" descr="/home/claude/yz_temelleri/img/dengesizli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9379" y="1965960"/>
            <a:ext cx="8852937" cy="38404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58064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Çareler: doğru ölçüt + stratify, class_weight='balanced', yeniden örnekleme (sadece eğitimde), eşik ayarı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eğrisi ve eşik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6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 eşiği bir varsayılan, zorunluluk değil. AUC = rastgele bir pozitifin skoru rastgele bir negatiften yüksek olma olasılığı; 0.5 rastgele, 1.0 mükemmel. Dengesiz sınıfta PR eğrisi daha bilgilendirici.</a:t>
            </a:r>
            <a:endParaRPr lang="en-US" sz="1500" dirty="0"/>
          </a:p>
        </p:txBody>
      </p:sp>
      <p:pic>
        <p:nvPicPr>
          <p:cNvPr id="6" name="Image 0" descr="/home/claude/yz_temelleri/img/roc_p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57663" y="2286000"/>
            <a:ext cx="9476369" cy="35204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58064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Sol: ROC (sol üst köşe iyi, köşegen rastgele). Sağ: eşik düşünce recall ↑ precision ↓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Örnek 6.5 — Üç eşikten ROC noktaları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6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11094415" cy="4937760"/>
          </a:xfrm>
          <a:prstGeom prst="rect">
            <a:avLst/>
          </a:prstGeom>
          <a:solidFill>
            <a:srgbClr val="FBF6EE"/>
          </a:solidFill>
          <a:ln w="12700">
            <a:solidFill>
              <a:srgbClr val="E0C9A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463040"/>
            <a:ext cx="105457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motor: skorlar (0.95,1)(0.85,1)(0.70,0)(0.65,1)(0.55,1)(0.40,0)(0.35,0)(0.30,1)(0.20,0)(0.10,0); 5 pozitif, 5 negatif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377440"/>
            <a:ext cx="10545775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Eşik 0.9: TP 1, FP 0 → (FPR 0.0, TPR 0.2)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Eşik 0.6: TP 3, FP 1 → (0.2, 0.6)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Eşik 0.5: TP 4, FP 1 → (0.2, 0.8)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Eşik 0.25: TP 5, FP 3 → (0.6, 1.0)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≈ pozitif–negatif çiftlerinden pozitifin yüksek olduğu oran: 21/25 = 0.84</a:t>
            </a:r>
            <a:endParaRPr lang="en-US" sz="1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Örnek 6.6 — Maliyete göre eşik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6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11094415" cy="4937760"/>
          </a:xfrm>
          <a:prstGeom prst="rect">
            <a:avLst/>
          </a:prstGeom>
          <a:solidFill>
            <a:srgbClr val="FBF6EE"/>
          </a:solidFill>
          <a:ln w="12700">
            <a:solidFill>
              <a:srgbClr val="E0C9A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463040"/>
            <a:ext cx="105457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 = 10 000 TL, FP = 500 TL. Eşik → (TP, FN, FP, TN): 0.7 → (95,55,12,838); 0.5 → (120,30,40,810); 0.3 → (140,10,110,740); 0.15 → (148,2,260,590)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377440"/>
            <a:ext cx="10545775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0.7: 550k + 6k = 556k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0.5: 300k + 20k = 320k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0.3: 100k + 55k = 155k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0.15: 20k + 130k = 150k ← en düşük (doğruluk sadece %73.8!)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Kaçırma pahalıysa eşik düşer, recall öncelenir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Eşik bir mühendislik/ekonomi kararı; ölçüt beklenen maliyet. Doğrulamada seç, testte raporla</a:t>
            </a:r>
            <a:endParaRPr lang="en-US" sz="17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Uygulama verisi: motor_ariza.csv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6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94415" cy="914400"/>
        </p:xfrm>
        <a:graphic>
          <a:graphicData uri="http://schemas.openxmlformats.org/drawingml/2006/table">
            <a:tbl>
              <a:tblPr/>
              <a:tblGrid>
                <a:gridCol w="3081782"/>
                <a:gridCol w="1849069"/>
                <a:gridCol w="616356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Sütun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Tür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Açıklama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motor_tipi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Kategorik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asenkron/senkron/dc (7. hafta)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calisma_saati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Sürekli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Toplam çalışma (saat)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titresim_rms_mms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Sürekli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Titreşim RMS (mm/s)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titresim_kurtosis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Sürekli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Basıklık: darbeli arızada yükselir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sicaklik_C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Sürekli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Sargı sıcaklığı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akim_dengesizlik_pct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Sürekli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Faz akımı dengesizliği (%)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ariza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İkili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Hedef, %15 pozitif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Lojistik regresyon — Pipeline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6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7498080" cy="2091690"/>
          </a:xfrm>
          <a:prstGeom prst="rect">
            <a:avLst/>
          </a:prstGeom>
          <a:solidFill>
            <a:srgbClr val="F3F3F1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417320"/>
            <a:ext cx="7132320" cy="18173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 = pd.read_csv("motor_ariza.csv")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ozellik = ["calisma_saati", "titresim_rms_mms", "titresim_kurtosis", "sicaklik_C", "akim_dengesizlik_pct"]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Xtr, Xte, ytr, yte = train_test_split(m[ozellik], m["ariza"], test_size=0.3, random_state=0, stratify=m["ariza"])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= make_pipeline(StandardScaler(), LogisticRegression()).fit(Xtr, ytr)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= model.predict_proba(Xte)[:, 1]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print(confusion_matrix(yte, p &gt;= 0.5))        # [[TN FP], [FN TP]]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print(classification_report(yte, p &gt;= 0.5))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print("AUC:", roc_auc_score(yte, p))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8412480" y="1280160"/>
            <a:ext cx="3230575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stratify: oranlar korunur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Pipeline: ölçekleme kaçaksız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predict_proba → olasılık; eşik bizim elimizde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confusion_matrix sırası: [[TN FP],[FN TP]]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Sınıf içi sorular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6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4415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= −1.5 → σ(z)? sınıf? eşik 0.2 olsaydı?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30, FN 20, FP 5, TN 945: ölçütler; model iyi mi?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N ne yapar? k = 1'de eğitim doğruluğu?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= 0.5 ROC'u? AUC = 0.3 çıkarsa?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 ucuz, FN pahalı: eşik hangi yöne?</a:t>
            </a:r>
            <a:endParaRPr lang="en-US" sz="17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Kısa sınav 2 ve gelecek hafta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6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4415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Kısa sınav 2: regresyon tahmini/artık; karışıklık matrisinden precision/recall/F1; sigmoid neden gerekli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Defter: lojistik + k-NN, ölçütleri elle doğrulama, k taraması, ROC, maliyete göre eşik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Gelecek hafta: karar ağaçları, rastgele orman, SVM, one-hot, hiperparametre arama; rulman titreşim verisi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Hafta 6 — Sınıflandırma I</dc:title>
  <dc:subject>PptxGenJS Presentation</dc:subject>
  <dc:creator>PptxGenJS</dc:creator>
  <cp:lastModifiedBy>PptxGenJS</cp:lastModifiedBy>
  <cp:revision>1</cp:revision>
  <dcterms:created xsi:type="dcterms:W3CDTF">2026-09-22T16:16:28Z</dcterms:created>
  <dcterms:modified xsi:type="dcterms:W3CDTF">2026-09-22T16:16:28Z</dcterms:modified>
</cp:coreProperties>
</file>