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Serileri ve Tekrarlayan Ağlar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Mevsimsellik • zaman bölmesi • naif taban • gecikme özellikleri • pencereleme • RNN/LSTM/GRU • yük tahmini • anomali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planı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Şimdiye kadar örnekler bağımsızdı. Bugün örneklerin zamanla bağlı olduğu, EEM'in en yaygın veri türünü ele alıyoruz: saatlik yük, sensör dizileri, sinyaller.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1 — Zaman serisi bileşenleri, ACF; zaman bölmesi ve sızıntı; naif tabanlar; MAE/RMSE/MAPE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2 — Gecikme özellikleriyle klasik tahmin; pencereleme (N, W, F); RNN, BPTT, kaybolan gradyan; LSTM/GRU; ufuk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— Uygulama: sebeke_yuku.csv ile 1 s ve 24 s ileri yük tahmini; naif → ridge → orman → LSTM; anomali; proje ara teslimi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Bileşenler (trend, mevsimsellik, gürültü) ve ACF yorumu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bölmesi, genişleyen pencere CV, sızıntı kaynakları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Naif tabanlar + MAE/RMSE/MAPE — her model tabana karşı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 + takvim özellikleri; ufuk h → lag ≥ h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Pencereleme (N, W, F); RNN elle; LSTM kapıları ve parametre sayısı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LSTM ile 1 s / 24 s ileri tahmin; artıktan anomali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sebeke_yuku.csv: bir yıl saatlik yük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ama gerçekçi: günlük profil × hafta günü × tatil + sıcaklığın U etkisi + yavaş gürültü. 'Doğru cevabı' bildiğimiz için modellerin neyi kaçırdığını görebiliriz.</a:t>
            </a:r>
            <a:endParaRPr lang="en-US" sz="1500" dirty="0"/>
          </a:p>
        </p:txBody>
      </p:sp>
      <p:pic>
        <p:nvPicPr>
          <p:cNvPr id="6" name="Image 0" descr="/home/claude/yz_temelleri/img/yuk_ge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0585" y="2286000"/>
            <a:ext cx="4650526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Yaz/kış tepeleri (soğutma/ısıtma), günlük çift tepe, hafta sonu düşüşü; son 65 gün test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Mevsimsellik ve otokorelasyon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ACF, özellik seçiminin haritasıdır: tepe nerede ise o gecikme özelliğe girer.</a:t>
            </a:r>
            <a:endParaRPr lang="en-US" sz="1500" dirty="0"/>
          </a:p>
        </p:txBody>
      </p:sp>
      <p:pic>
        <p:nvPicPr>
          <p:cNvPr id="6" name="Image 0" descr="/home/claude/yz_temelleri/img/mevsimsell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72156"/>
            <a:ext cx="11094415" cy="28280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tepeleri 24, 48, 168 → hangi gecikmeler bilgi taşıyor; yük–sıcaklık U biçimli (15 °C altı ısıtma, 22 °C üstü soğutma)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bölmesi ve sızıntı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&lt; test (zamanda). Son 65 gün test; doğrulama = eğitimin son haftaları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TimeSeriesSplit: genişleyen pencere CV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Sızıntı: rastgele bölme; tüm seriyle ölçekleme; rolling(24) yerine shift(h).rolling(24); gelecekte bilinmeyen özellik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Ufuk h: t+h için en yeni gözlem t → lag ≥ 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Takvim (saat, gün, tatil) gelecekte bilinir → kısıt yok; sıcaklık → hava tahmininden</a:t>
            </a:r>
            <a:endParaRPr lang="en-US" sz="1400" dirty="0"/>
          </a:p>
        </p:txBody>
      </p:sp>
      <p:pic>
        <p:nvPicPr>
          <p:cNvPr id="6" name="Image 0" descr="/home/claude/yz_temelleri/img/zaman_bol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0705" y="3017520"/>
            <a:ext cx="9230286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Naif tabanlar ve ölçütler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 raporlanmadan söylenen '%1 MAPE' anlamsızdır: serinin kendisi %1 oynuyorsa naif de %1 verir.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Naif: ŷₜ = yₜ₋₁ · Mevsimsel naif: yₜ₋₂₄, yₜ₋₁₆₈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(MW): ortalama |hata| · RMSE: büyük hataları cezalar · MAPE (%): ölçeksiz, sıfıra yakın değerde patlar (PV geceleri!)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Beceri = 1 − MAE_model / MAE_naif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Yükte naif 168 s şaşırtıcı iyi (~%4); gün öncesi hedef: %1–3 MAPE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13.1 — Ölçütler elle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[700, 720, 760, 790, 780]; naif [680, 700, 720, 760, 790]; model [705, 715, 750, 800, 770]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Naif hata [20, 20, 40, 30, −10] → MAE 24.0, RMSE √680 = 26.1, MAPE 3.20 %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hata [−5, 5, 10, −10, 10] → MAE 8.0, RMSE √70 = 8.4, MAPE 1.05 %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Beceri = 1 − 8/24 = 0.67 — model tabanın üçte biri hata yapıyor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 özellikleri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 bir tabloya çevrilir: satır = t anı, sütunlar = geçmiş değerler + takvim + sıcaklık. Sonra 5–7. haftaların modelleri.</a:t>
            </a:r>
            <a:endParaRPr lang="en-US" sz="1500" dirty="0"/>
          </a:p>
        </p:txBody>
      </p:sp>
      <p:pic>
        <p:nvPicPr>
          <p:cNvPr id="6" name="Image 0" descr="/home/claude/yz_temelleri/img/gecikme_ozellikle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58589"/>
            <a:ext cx="11094415" cy="305522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lag1 en güçlü (kalıcılık), lag168 &gt; lag24 (hafta sonu etkisi)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tablosu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776822"/>
                <a:gridCol w="4248925"/>
                <a:gridCol w="30686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yakalar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Ufuk kısıtı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lag1–3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Kalıcılık (AR)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≤ 1, 2,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lag24, lag48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Günlük döngü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≤ 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lag168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Haftalık, hafta sonu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≤ 168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ort24 = shift(h).rolling(24)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Seviye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kaydırma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sin/cos saat, hafta sonu, tatil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Takvim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sıcaklık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biçimi → max(T−22,0), max(15−T,0)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hava tahmininden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Pencereleme: diziden (N, W, F) tensörüne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Sinir ağı sabit biçim ister. W uzunluğunda kayan pencere → her örnek (W, F) matrisi. W bir hiperparametredir: günlük için ≥ 24, haftalık için 168.</a:t>
            </a:r>
            <a:endParaRPr lang="en-US" sz="1500" dirty="0"/>
          </a:p>
        </p:txBody>
      </p:sp>
      <p:pic>
        <p:nvPicPr>
          <p:cNvPr id="6" name="Image 0" descr="/home/claude/yz_temelleri/img/pencerele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726" y="2286000"/>
            <a:ext cx="10338243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L − W − h + 1; ölçekleme eğitim istatistikleriyle; hedef de ölçeklenir, tahmin geri çevrilir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13.2 — Pencere sayısı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7200, W = 168, h = 1, F = 5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7200 − 168 − 1 + 1 = 7032; biçim (7032, 168, 5); bellek 23.6 MB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pencereleri eğitimin son 168 saatini kullanır — geçmişe bakmak sızıntı değil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24 → N = 7009; tek çıktı (t+24) ya da 24 çıktı (doğrudan çok adımlı)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RNN: zamanda ağırlık paylaşımı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uzayda paylaşır, RNN zamanda. Herhangi uzunluktaki diziyi işler; ama uzak geçmişi öğrenmesi zordur — 10. haftanın derinlik problemi, burada 'derinlik' = dizi uzunluğu.</a:t>
            </a:r>
            <a:endParaRPr lang="en-US" sz="1500" dirty="0"/>
          </a:p>
        </p:txBody>
      </p:sp>
      <p:pic>
        <p:nvPicPr>
          <p:cNvPr id="6" name="Image 0" descr="/home/claude/yz_temelleri/img/rnn_acil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06873"/>
            <a:ext cx="11094415" cy="34786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tanh(Wxₜ + Uhₜ₋₁ + b); aynı W, U, b her adımda; son h dizinin özeti; BPTT'de gradyan (U·tanh′)ᵗ → kaybolur/patlar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13.3 — RNN ileri geçişi elle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0.5, U = 0.8, b = 0, h₀ = 0, x = [1, 0, −1], ŷ = 2h₃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= tanh 0.5 = 0.462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= tanh(0.8·0.462) = 0.354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h₃ = tanh(−0.5 + 0.283) = −0.214 → ŷ = −0.427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adım geriye: çarpan ≤ 0.8¹⁰ = 0.107, tanh′ &lt; 1 ile çok daha küçük → uzak geçmiş silinir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hücresi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Unutma, girdi, çıkış kapıları hücre durumunu yönetir. GRU: iki kapı, daha az parametre, küçük veride çoğu kez eşdeğer. PyTorch: nn.LSTM(F, H, batch_first=True).</a:t>
            </a:r>
            <a:endParaRPr lang="en-US" sz="1500" dirty="0"/>
          </a:p>
        </p:txBody>
      </p:sp>
      <p:pic>
        <p:nvPicPr>
          <p:cNvPr id="6" name="Image 0" descr="/home/claude/yz_temelleri/img/lstm_huc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307" y="2286000"/>
            <a:ext cx="8955082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 = fₜ⊙cₜ₋₁ + iₜ⊙c̃ₜ; hₜ = oₜ⊙tanh(cₜ); kapılar σ([hₜ₋₁, xₜ]); toplama zinciri → gradyan taşınır (ResNet fikri)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13.4 — LSTM parametre sayısı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5, H = 32, tek katman + Linear(32→1)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başına H·(F+H) + H = 32·37 + 32 = 1216; ×4 = 4864 (PyTorch çift sapma: 4992)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33 → toplam ≈ 5 000 (MLP'nin 235 k'sına karşı)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1216, GRU 3648: paylaşım kompakt model demek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LSTM tahminci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224028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LSTMNet(nn.Module):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nf, h=32, cikti=1):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super().__init__(); self.lstm = nn.LSTM(nf, h, batch_first=True); self.out = nn.Linear(h, cikti)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x):                  # x: (N, W, F)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o, _ = self.lstm(x)                # o: (N, W, 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self.out(o[:, -1]).squeeze(-1)   # son adım → tahmin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LSTMNet(5); opt = torch.optim.Adam(m.parameters(), 3e-3)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ep in range(10):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xb, yb in dl: opt.zero_grad(); F.mse_loss(m(xb), yb).backward(); opt.step()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 (N, 168, 5): ölçekli yük, sin/cos saat, hafta sonu, sıcaklık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 MSE ölçekli hedefte; MAPE raporu için geri çevir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CPU'da 10 epoch ≈ 15 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Sonuçlar: naif → ridge → orman → LSTM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özelliklerle doğrusal model tabanı 2.5 kat iyileştirir; LSTM'nin ek katkısı burada küçük. Derin modelin avantajı: özellik tasarımı gerektirmez, çok değişkenli/uzun dizilerde açılır.</a:t>
            </a:r>
            <a:endParaRPr lang="en-US" sz="1500" dirty="0"/>
          </a:p>
        </p:txBody>
      </p:sp>
      <p:pic>
        <p:nvPicPr>
          <p:cNvPr id="6" name="Image 0" descr="/home/claude/yz_temelleri/img/tahmin_karsilasti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2766" y="2286000"/>
            <a:ext cx="5906164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 ileri test MAPE: naif 24 s %6.3, naif 168 s %3.9, ridge %1.7, orman %1.5, LSTM %1.5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Ufuk ve çok adımlı tahmin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Defterde 24 çıktılı LSTM (doğrudan): ort. MAPE ≈ %3.4 — ridge 24 s (%3.2) ile aynı düzey; özyinelemeli de ≈ %3.5. Bu düzgün seride fark küçük.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18608" cy="3931920"/>
          </a:xfrm>
          <a:prstGeom prst="rect">
            <a:avLst/>
          </a:prstGeom>
          <a:solidFill>
            <a:srgbClr val="EEF4FC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688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Ufuk h büyüdükçe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47699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lag ≥ h kullanılabilir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 ileri ridge ≈ %3.2 (naif 24 s'nin yarısı)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Şekil: hata ufukla artar ama tabanı geçer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4448" y="2286000"/>
            <a:ext cx="5318608" cy="3931920"/>
          </a:xfrm>
          <a:prstGeom prst="rect">
            <a:avLst/>
          </a:prstGeom>
          <a:solidFill>
            <a:srgbClr val="FBF6EE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4688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adımlı stratejiler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98768" y="3063240"/>
            <a:ext cx="47699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Özyinelemeli: 1 s modeli 24 kez — hata birikir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Doğrudan: ufuk başına model ya da 24 çıktılı tek 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Dizi-dizi (encoder–decoder) — ileri konu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Artıktan anomali tespiti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tahmin modeli = etiketsiz anomali dedektörü. 7. haftanın sınıflandırmasının etiket gerektirmeyen tamamlayıcısı.</a:t>
            </a:r>
            <a:endParaRPr lang="en-US" sz="1500" dirty="0"/>
          </a:p>
        </p:txBody>
      </p:sp>
      <p:pic>
        <p:nvPicPr>
          <p:cNvPr id="6" name="Image 0" descr="/home/claude/yz_temelleri/img/artik_anoma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846" y="1965960"/>
            <a:ext cx="8444003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(gözlem − tahmin)/σ_eğitim; |z| &gt; 4 → alarm. Yapay 6 saatlik kesintinin tamamı yakalanıyor; 24 s sonra lag24 'yankısı' + 4 yanlış alarm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model ne zaman?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EEM'de tahmin işlerinin büyük kısmı gecikme + doğrusal/ağaç ile çözülür. LSTM: batarya SoC/SoH, kalan ömür, çok sensörlü rejimler. 1-B CNN: titreşim, EKG, güç kalitesi.</a:t>
            </a:r>
            <a:endParaRPr lang="en-US" sz="1500" dirty="0"/>
          </a:p>
        </p:txBody>
      </p:sp>
      <p:pic>
        <p:nvPicPr>
          <p:cNvPr id="6" name="Image 0" descr="/home/claude/yz_temelleri/img/model_sec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36889"/>
            <a:ext cx="11094415" cy="32186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Soldan başla; sağa geçmek için ölçülmüş kazanç iste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ara teslimi (bu hafta)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Puan: tabana karşı dürüst ölçüm ve doğru bölme. 'Karmaşık model' tek başına puan değildir.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tanımı + başarı ölçütü (metrik, taban)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kaynağı, boyut, bölme stratejisi (zaman serisi → zaman bölmesi!)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EDA'dan 3 şekil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1 taban + 1 klasik modelin doğrulama sonucu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 2 haftanın planı — tek sayfa PDF + çalışan defter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içi sorular / Ödev 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üretiminde MAPE neden kullanılmaz? Ne kullanılır?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t+6 tahmininde lag3 kullanılabilir mi?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neden sade RNN'den daha uzun belleklidir (tek cümle)?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Naif 168 s neden naif 24 s'den iyi?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7: TimeSeriesSplit CV; GRU ve 1-B CNN vs LSTM; özyinelemeli vs doğrudan 24 s; bonus PV tahmini (MAE)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EEM uygulamaları, TinyML, LLM'ler, güvenilirlik ve etik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13 — Zaman Serileri ve LSTM</dc:title>
  <dc:subject>PptxGenJS Presentation</dc:subject>
  <dc:creator>PptxGenJS</dc:creator>
  <cp:lastModifiedBy>PptxGenJS</cp:lastModifiedBy>
  <cp:revision>1</cp:revision>
  <dcterms:created xsi:type="dcterms:W3CDTF">2026-09-22T17:36:09Z</dcterms:created>
  <dcterms:modified xsi:type="dcterms:W3CDTF">2026-09-22T17:36:09Z</dcterms:modified>
</cp:coreProperties>
</file>