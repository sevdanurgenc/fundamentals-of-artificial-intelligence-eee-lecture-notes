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ve PyTorch'a Giriş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 kuralı • hesap grafı • geri yayılım (elle) • SGD / Adam • tensör • autograd • eğitim döngüsü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 ağ ileri doğru hesapladı; bu hafta öğrenecek. Geri yayılım = zincir kuralının düzenli uygulanması. PyTorch bunu otomatik yapar; ama bir kez elle görmeden 'kara kutu' kalır.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Zincir kuralı, hesap grafı; tek nöron ve 2-2-1 ağda gradyan elle; güncelleme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η, batch, epoch; SGD/momentum/Adam; PyTorch: tensör, autograd, nn.Module, optimizer, döngü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NumPy geri yayılım ↔ autograd doğrulaması; PyTorch ile yük tahmini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 kuralını hesap grafında uygulamak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nöron ve 2 katmanlı ağ gradyanlarını elle türetmek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δ'nın geriye taşınması: üç formül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η, batch, epoch; SGD vs Adam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eğitim döngüsünü yazmak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gradyanını autograd ile doğrulamak; kaybolan gradyanı ölçmek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 kuralı ve hesap grafı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= basit işlemlerin (çarp, topla, aktive et) uzun zinciri. Her işlemin türevi basit; zincir kuralı çarparak birleştirir. Geri yayılım (Rumelhart, Hinton, Williams 1986) bu çarpımın düzenli hâlidir.</a:t>
            </a:r>
            <a:endParaRPr lang="en-US" sz="1500" dirty="0"/>
          </a:p>
        </p:txBody>
      </p:sp>
      <p:pic>
        <p:nvPicPr>
          <p:cNvPr id="6" name="Image 0" descr="/home/claude/yz_temelleri/img/hesap_gra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823" y="2286000"/>
            <a:ext cx="9418048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f(g(w)) → dL/dw = f'(g(w))·g'(w). İleri: değerleri sakla. Geri: yerel türev × yukarıdan gelen gradyan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10.1 — Tek nöronun gradyanı (elle)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σ(wx + b), L = log-loss. x = 2, w = 0.5, b = −0.5, y = 1; η = 0.1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İleri: z = 0.5; a = σ(0.5) = 0.622; L = −log 0.622 = 0.474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∂L/∂a = −1/a = −1.607;  ∂a/∂z = a(1−a) = 0.235;  ∂L/∂z = −0.378 = (a − y) ✓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 = (a−y)·x = −0.756;  ∂L/∂b = (a−y) = −0.378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Güncelle: w = 0.576, b = −0.462 → yeni a = 0.666, L = 0.406 &lt; 0.474 ✓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+ log-loss → ∂L/∂z = a − y her zaman (bu yüzden bu çift)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katmanda: üç formül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sinyali: δ⁽ˡ⁾ = ∂L/∂z⁽ˡ⁾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Çıktı: δ⁽ᴸ⁾ = ŷ − y  (sigmoid+log-loss veya softmax+CE)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Geriye taşı: δ⁽ˡ⁾ = (W⁽ˡ⁺¹⁾ᵀ δ⁽ˡ⁺¹⁾) ⊙ f'(z⁽ˡ⁾)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gradyanları: ∂L/∂W⁽ˡ⁾ = δ⁽ˡ⁾ a⁽ˡ⁻¹⁾ᵀ,  ∂L/∂b⁽ˡ⁾ = δ⁽ˡ⁾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f' ∈ {0,1} → kapalı nöron sinyali geçirmez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Sigmoid: f' ≤ 0.25 → her katmanda ≥ 4 kat küçülür = kaybolan gradyan</a:t>
            </a:r>
            <a:endParaRPr lang="en-US" sz="1500" dirty="0"/>
          </a:p>
        </p:txBody>
      </p:sp>
      <p:pic>
        <p:nvPicPr>
          <p:cNvPr id="6" name="Image 0" descr="/home/claude/yz_temelleri/img/geri_yayil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287" y="3328416"/>
            <a:ext cx="7931120" cy="2615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10.2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10.2 — 2-2-1 ağda geri yayılım (elle)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(1, 2); W⁽¹⁾ = [[0.5,−1],[1,0.5]], b⁽¹⁾ = (0,−1), ReLU; W⁽²⁾ = (1,−1), b⁽²⁾ = 0, sigmoid; y = 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İleri: z⁽¹⁾ = [−1.5, 1.0] → a⁽¹⁾ = [0, 1.0]; z⁽²⁾ = −1 → ŷ = 0.269; L = −log(0.731) = 0.313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δ⁽²⁾ = ŷ − y = 0.269;  ∂L/∂W⁽²⁾ = 0.269·[0, 1] = [0, 0.269];  ∂L/∂b⁽²⁾ = 0.269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W⁽²⁾ᵀδ⁽²⁾ = [0.269, −0.269];  f'(z⁽¹⁾) = [0, 1] → δ⁽¹⁾ = [0, −0.269]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∂L/∂W⁽¹⁾ = δ⁽¹⁾xᵀ = [[0, 0], [−0.269, −0.538]];  ∂L/∂b⁽¹⁾ = [0, −0.269]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gizli nöron kapalı → ağırlıkları güncellenmez (ölü nöron). Defterde NumPy + autograd doğrulaması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döngüsü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veriyle adım: pahalı. Tek örnekle: gürültülü. Mini-batch: ucuz + gürültü yerel minimumdan kaçmaya yardım eder. Her epoch'ta karıştır.</a:t>
            </a:r>
            <a:endParaRPr lang="en-US" sz="1500" dirty="0"/>
          </a:p>
        </p:txBody>
      </p:sp>
      <p:pic>
        <p:nvPicPr>
          <p:cNvPr id="6" name="Image 0" descr="/home/claude/yz_temelleri/img/egitim_dongu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43521"/>
            <a:ext cx="11094415" cy="28053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(32-256) → ileri → kayıp → backward → step → zero_grad; epoch = tüm veriden bir geçiş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oranı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en kritik hiperparametre. Kayıp NaN olduysa η çok büyüktür. Kayıp epoch'lar boyunca düz gidiyorsa η çok küçük ya da gradyan kaybolmuş olabilir.</a:t>
            </a:r>
            <a:endParaRPr lang="en-US" sz="1500" dirty="0"/>
          </a:p>
        </p:txBody>
      </p:sp>
      <p:pic>
        <p:nvPicPr>
          <p:cNvPr id="6" name="Image 0" descr="/home/claude/yz_temelleri/img/lr_egrile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4487" y="2286000"/>
            <a:ext cx="6282722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Küçük: yavaş; iyi: hızlı iniş; büyük: kararsız/ıraksar. 10⁻³ ile başla, zamanla azalt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hiperparametreleri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127696"/>
                <a:gridCol w="3039566"/>
                <a:gridCol w="1975718"/>
                <a:gridCol w="39514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Kavram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 büyüklüğü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10⁻⁴–10⁻²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kritik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Adımdaki örnek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32–256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Küçük: gürültülü/düzenlileştirici; büyük: hızlı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veriden geçiş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Fazla → aşırı öğrenme → erken durdur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SGD+momentum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Önceki yönü hatırla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Zikzak 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 başına uyarlanır η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1e-3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Varsayılan seçim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Başlangıç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He/Xavier ölçekli rastgele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√(2/n_in)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Patlama/sönme önler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sayısı bir karmaşıklık eksenidir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haftanın öğrenme eğrisi, epoch ekseninde: eğitim kaybı hep düşer, doğrulama kaybı dipten sonra yükselir.</a:t>
            </a:r>
            <a:endParaRPr lang="en-US" sz="1500" dirty="0"/>
          </a:p>
        </p:txBody>
      </p:sp>
      <p:pic>
        <p:nvPicPr>
          <p:cNvPr id="6" name="Image 0" descr="/home/claude/yz_temelleri/img/epoch_egr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9097" y="1965960"/>
            <a:ext cx="6893500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 kaybı U biçimli → en iyi epoch'ta dur (erken durdurma, 11. hafta)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10.3 — Adım sayısı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57 600 örnek, batch 64, 30 epoch; adım 5 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Adım/epoch = 57 600/64 = 900 → toplam 27 000 adım → 135 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256: 225 adım/epoch → 6 750 adım; adım ~8 ms (GPU paralel) → 54 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batch hızlı ama daha az adım → daha çok epoch ya da büyük η gerekebilir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batch'in gürültüsü bir tür düzenlileştirme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PyTorch'un beş yapı taşı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yazmak öğretici, pratik değil. Altı satırlık döngüyü bir kez yazan her derin modeli yazar; 11-13. haftada yalnızca model tanımı değişir.</a:t>
            </a:r>
            <a:endParaRPr lang="en-US" sz="1500" dirty="0"/>
          </a:p>
        </p:txBody>
      </p:sp>
      <p:pic>
        <p:nvPicPr>
          <p:cNvPr id="6" name="Image 0" descr="/home/claude/yz_temelleri/img/pytorch_bilesen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219" y="2286000"/>
            <a:ext cx="9929258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(GPU + gradyan) • autograd (backward) • nn.Module (katmanlar) • optim (SGD/Adam) • DataLoader (batch)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Autograd: Örnek 10.1'i PyTorch'a yaptır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72847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torch.tensor(0.5, requires_grad=True); b = torch.tensor(-0.5, requires_grad=True)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torch.tensor(2.0); y = torch.tensor(1.0)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torch.sigmoid(w*x + 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-(y*torch.log(a) + (1-y)*torch.log(1-a))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L.backward()                           # zincir kuralı otomatik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print(w.grad, b.grad)                  # -0.7560, -0.3780 -&gt; elle bulduğumuzla aynı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requires_grad: bu tensörü izle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işlemler graf olarak kaydedilir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backward(): tüm .grad'lar dolar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türev almak bitti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satırlık eğitim döngüsü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044874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77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nn.Sequential(nn.Linear(7, 32), nn.ReLU(), nn.Linear(32, 1))</a:t>
            </a:r>
            <a:endParaRPr lang="en-US" sz="1202" dirty="0"/>
          </a:p>
          <a:p>
            <a:pPr indent="0" marL="0">
              <a:buNone/>
            </a:pPr>
            <a:r>
              <a:rPr lang="en-US" sz="120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kayip = nn.MSELoss(); opt = torch.optim.Adam(model.parameters(), lr=1e-2)</a:t>
            </a:r>
            <a:endParaRPr lang="en-US" sz="1202" dirty="0"/>
          </a:p>
          <a:p>
            <a:pPr indent="0" marL="0">
              <a:buNone/>
            </a:pPr>
            <a:r>
              <a:rPr lang="en-US" sz="120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epoch in range(200):</a:t>
            </a:r>
            <a:endParaRPr lang="en-US" sz="1202" dirty="0"/>
          </a:p>
          <a:p>
            <a:pPr indent="0" marL="0">
              <a:buNone/>
            </a:pPr>
            <a:r>
              <a:rPr lang="en-US" sz="120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opt.zero_grad()              # 1. eski gradyanları sil (birikir!)</a:t>
            </a:r>
            <a:endParaRPr lang="en-US" sz="1202" dirty="0"/>
          </a:p>
          <a:p>
            <a:pPr indent="0" marL="0">
              <a:buNone/>
            </a:pPr>
            <a:r>
              <a:rPr lang="en-US" sz="120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tahmin = model(X_tr)         # 2. ileri</a:t>
            </a:r>
            <a:endParaRPr lang="en-US" sz="1202" dirty="0"/>
          </a:p>
          <a:p>
            <a:pPr indent="0" marL="0">
              <a:buNone/>
            </a:pPr>
            <a:r>
              <a:rPr lang="en-US" sz="120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 = kayip(tahmin, y_tr)      # 3. kayıp</a:t>
            </a:r>
            <a:endParaRPr lang="en-US" sz="1202" dirty="0"/>
          </a:p>
          <a:p>
            <a:pPr indent="0" marL="0">
              <a:buNone/>
            </a:pPr>
            <a:r>
              <a:rPr lang="en-US" sz="120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L.backward()                 # 4. geri yayılım</a:t>
            </a:r>
            <a:endParaRPr lang="en-US" sz="1202" dirty="0"/>
          </a:p>
          <a:p>
            <a:pPr indent="0" marL="0">
              <a:buNone/>
            </a:pPr>
            <a:r>
              <a:rPr lang="en-US" sz="1202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opt.step()                   # 5. güncelle</a:t>
            </a:r>
            <a:endParaRPr lang="en-US" sz="1202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nn.Sequential: katman zinciri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lr=1e-2 / 1e-3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 UNUTMA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Mini-batch: DataLoader ile for xb, yb in ...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Değerlendirme: model.eval() + torch.no_grad()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↔ PyTorch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klasik hata: zero_grad unutmak (gradyan birikir); eval() moduna almamak; değerlendirmede no_grad kullanmamak (bellek).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039566"/>
                <a:gridCol w="3647479"/>
                <a:gridCol w="44073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np.array([1, 2])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torch.tensor([1., 2.])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float32 tercih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@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@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np.exp(x)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torch.exp(x)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çoğu aynı 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x.requires_grad_(True)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izlemeyi aç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L.backward(); x.grad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türevler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x.to('cuda')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(Colab: Runtime → GPU)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x.detach().numpy()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dönüş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Kaybolan gradyanı ölçmek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haftadaki gözlemin sayısal kanıtı. Diğer çözümler: batch normalization, artık bağlantılar (ResNet) — 11-12. hafta.</a:t>
            </a:r>
            <a:endParaRPr lang="en-US" sz="1500" dirty="0"/>
          </a:p>
        </p:txBody>
      </p:sp>
      <p:pic>
        <p:nvPicPr>
          <p:cNvPr id="6" name="Image 0" descr="/home/claude/yz_temelleri/img/kaybolan_grad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643" y="1965960"/>
            <a:ext cx="6906409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gizli katman: sigmoidde ‖∂L/∂W‖ girdiye doğru 10⁻⁴'e iner; ReLU'da sabit kalır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 / Ödev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+ MSE için ∂L/∂w; neden σ + log-loss'tan kötü?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Kapalı ReLU nöronuna gradyan gelir mi?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örnek, batch 100, 20 epoch: adım?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×10 → NaN: ne oldu?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 silinirse?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5: NumPy 2-8-1 geri yayılım + motor verisi; autograd ile eşleşme; η × optimizer ızgarası; batch etkisi; erken durdurma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derin öğrenme pratiği — MNIST, dropout, batch norm, erken durdurma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10 — Geri Yayılım ve PyTorch'a Giriş</dc:title>
  <dc:subject>PptxGenJS Presentation</dc:subject>
  <dc:creator>PptxGenJS</dc:creator>
  <cp:lastModifiedBy>PptxGenJS</cp:lastModifiedBy>
  <cp:revision>1</cp:revision>
  <dcterms:created xsi:type="dcterms:W3CDTF">2026-09-22T16:48:31Z</dcterms:created>
  <dcterms:modified xsi:type="dcterms:W3CDTF">2026-09-22T16:48:31Z</dcterms:modified>
</cp:coreProperties>
</file>