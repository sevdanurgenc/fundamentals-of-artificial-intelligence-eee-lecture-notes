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Sınav ve Denetimsiz Öğrenme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• dirsek / silüet • hiyerarşik kümeleme • PCA • abone yük profilleri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Şimdiye kadar her örneğin doğru cevabı vardı. Bugün etiket yok: 'bu veride ne tür bir yapı var?' Kümeleme (benzerleri grupla) ve boyut indirgeme (24 sayıyı 2-3 sayıyla anlat).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ARA SINAV (1-7. haftalar)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k-means (elle), k seçimi, hiyerarşik; PCA fikri, açıklanan varyans, yükler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300 abonenin yük profillerini kümeleme ve PCA ile görselleştirme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sınav: kapsam ve örnek sorular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 %40: YZ/MÖ/DÖ, öğrenme türleri, aşırı öğrenme, veri kaçağı, ölçüt seçimi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hesap %45: istatistik, MAE/RMSE/R², EKK doğrusu, gradyan adımı, sigmoid/log-loss, karışıklık matrisi, Gini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okuma %15: Pipeline ne yapıyor, kaçak nerede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eğitim RMSE 3, test 21 → teşhis + çare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TP 60 FN 40 FP 10 TN 890 → ölçütler; FN 20k, FP 1k → eşik yönü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{4S,4A} için iki bölmenin Gini kazancı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 ↔ denetimli fark; 'doğru cevap' olmadan değerlendirme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k-means'i elle uygulamak; başlangıç duyarlılığı; dirsek ve silüet ile 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ve dendrogram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maksimum varyans yönleri; açıklanan varyans; yüklerle anlam verme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 profillerini kümeleyip mühendislik diliyle isimlendirmek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 ve denetimsiz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görev: kümeleme (aboneleri tarife gruplarına ayır, çalışma rejimlerini bul) ve boyut indirgeme (24 saatlik profili 2-3 sayıyla anlat, 100 sensörü görselleştir). Anomali tespiti 14. haftada.</a:t>
            </a:r>
            <a:endParaRPr lang="en-US" sz="1500" dirty="0"/>
          </a:p>
        </p:txBody>
      </p:sp>
      <p:pic>
        <p:nvPicPr>
          <p:cNvPr id="6" name="Image 0" descr="/home/claude/yz_temelleri/img/denetimli_denetims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59" y="2286000"/>
            <a:ext cx="10522377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Denetimsizde hata ölçülemez → iç ölçütler (inertia, silüet) + alan bilgisiyle yorum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merkez seç → her örneği en yakın merkeze ata → merkezi ortalamaya taşı → tekrar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adımda inertia (küme içi kareler toplamı) düşer; YEREL minimum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Başlangıca bağlı → n_init (birkaç başlangıç, en iyisi) ve k-means++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Varsayım: küresel, benzer boyutlu kümeler; iç içe/uzun kümelerde başarısız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→ ölçekleme ŞART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Aykırı değerler merkezi çeker</a:t>
            </a:r>
            <a:endParaRPr lang="en-US" sz="1500" dirty="0"/>
          </a:p>
        </p:txBody>
      </p:sp>
      <p:pic>
        <p:nvPicPr>
          <p:cNvPr id="6" name="Image 0" descr="/home/claude/yz_temelleri/img/kmeans_adim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44" y="3328416"/>
            <a:ext cx="11066407" cy="2615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8.2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8.1 — k-means elle (1-B)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Yükler: 2, 3, 4, 10, 11, 25 kW. k = 2, başlangıç m₁ = 2, m₂ = 25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İt. 1: {2,3,4,10,11} → m₁, {25} → m₂; güncelle: m₁ = 6.0, m₂ = 25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İt. 2: atamalar aynı → yakınsadı. Inertia = 16+9+4+16+25 = 70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m₁ = 3, m₂ = 10: {2,3,4} ve {10,11,25} → m₂ = 15.33 → yakınsadı; inertia = 142.6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çözüm daha iyi (70 &lt; 142.6) → başlangıç sonucu değiştirdi (n_init'in nedeni)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tek başına küme: k-means aykırılara duyarlı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nasıl seçilir? Dirsek ve silüet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ölçüt her zaman aynı k'yı vermez; son söz alan bilgisinde: 'beş tarife grubu yönetilebilir, on iki fazla'.</a:t>
            </a:r>
            <a:endParaRPr lang="en-US" sz="1500" dirty="0"/>
          </a:p>
        </p:txBody>
      </p:sp>
      <p:pic>
        <p:nvPicPr>
          <p:cNvPr id="6" name="Image 0" descr="/home/claude/yz_temelleri/img/dirsek_silu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49245"/>
            <a:ext cx="11094415" cy="36739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k ile hep düşer (k=N'de 0) → dirsek. Silüet (b−a)/max(a,b): +1 iyi, 0 sınırda, − yanlış küme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8.2 — Silüet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Kümeler {2, 3, 4} ve {10, 11, 25}. x = 4 ve x = 10 için silüet?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4: a = ort(2, 1) = 1.5; b = ort(6, 7, 21) = 11.33 → s = 9.83/11.33 = 0.868 (iyi)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10: a = ort(1, 15) = 8; b = ort(8, 7, 6) = 7 → s = (7 − 8)/8 = −0.125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silüet: 10 aslında diğer kümeye daha yakın; 25 aykırı değeri kümeyi bozuyor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silüet düşükse: k yanlış ya da aykırı/ölçek sorunu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(aglomeratif) kümeleme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örnek kendi kümesi → en yakın ikisini birleştir → tek küme kalana kadar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dendrogram; yatay kesim → istenen 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Bağlantı: tek (en yakın çift), tam (en uzak), ortalama, Ward (inertia artışı min ≈ k-means)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önceden gerekmez; iç içe yapı görünür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bellek → küçük/orta veri (birkaç bin)</a:t>
            </a:r>
            <a:endParaRPr lang="en-US" sz="1500" dirty="0"/>
          </a:p>
        </p:txBody>
      </p:sp>
      <p:pic>
        <p:nvPicPr>
          <p:cNvPr id="6" name="Image 0" descr="/home/claude/yz_temelleri/img/dend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45402"/>
            <a:ext cx="5242255" cy="22415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8.4 Ward, 80 abone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geometri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boyutlu 300 aboneyi göremeyiz. PCA veriyi maksimum varyans yönlerine döndürür; ilk birkaç bileşen çoğu bilgiyi taşır. Matematik: kovaryansın özvektörleri; özdeğerler = açıklanan varyans. ÖNCE standartlaştır.</a:t>
            </a:r>
            <a:endParaRPr lang="en-US" sz="1500" dirty="0"/>
          </a:p>
        </p:txBody>
      </p:sp>
      <p:pic>
        <p:nvPicPr>
          <p:cNvPr id="6" name="Image 0" descr="/home/claude/yz_temelleri/img/pca_geomet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361" y="2286000"/>
            <a:ext cx="8614974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en çok yayılım yönü; PC2 ona dik; döndürülmüş eksenlerde bileşenler ilişkisiz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8.3 — 2×2 kovaryansın özdeğerleri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[[1, 0.8], [0.8, 1]] (standartlaştırılmış iki özellik)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det(C − λI) = (1−λ)² − 0.64 = 0 → λ₁ = 1.8, λ₂ = 0.2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(1, 1)/√2 'birlikte artar'; PC2: (1, −1)/√2 'fark'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Oranlar: 1.8/2 = %90, 0.2/2 = %10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0.8 → neredeyse tek boyutlu; 2 → 1 boyut, bilginin %10'u kaybolur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çıktıları: açıklanan varyans ve skorlar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okuma: (1) açıklanan varyans → kaç bileşen; (2) skorlar → saçılım, kümeleri görmek; (3) yükler → bileşene anlam vermek.</a:t>
            </a:r>
            <a:endParaRPr lang="en-US" sz="1500" dirty="0"/>
          </a:p>
        </p:txBody>
      </p:sp>
      <p:pic>
        <p:nvPicPr>
          <p:cNvPr id="6" name="Image 0" descr="/home/claude/yz_temelleri/img/pca_abone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9573"/>
            <a:ext cx="11094415" cy="36532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ilk 5 bileşen %90 (kural), ilk 2 bileşen %70. Sağ: PC1–PC2 düzleminde aboneler, k-means renkleri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Yükler: bileşene anlam vermek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Ofisler PC1'in bir ucunda, 3 vardiya sanayi ortada, akşam tepeli konutlar PC2'de yukarıda. Bileşen = mühendislik ekseni.</a:t>
            </a:r>
            <a:endParaRPr lang="en-US" sz="1500" dirty="0"/>
          </a:p>
        </p:txBody>
      </p:sp>
      <p:pic>
        <p:nvPicPr>
          <p:cNvPr id="6" name="Image 0" descr="/home/claude/yz_temelleri/img/pca_yuk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860" y="1965960"/>
            <a:ext cx="8133974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gündüz saatleri +, gece − → 'gündüz/gece dengesi'. PC2: akşam tepesi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 yöntemler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27696"/>
                <a:gridCol w="3343522"/>
                <a:gridCol w="2583631"/>
                <a:gridCol w="30395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Dikkat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küresel küme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 + merkez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n_init, aykırılar, ölçek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ağacı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Dendrogram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bellek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Yoğunluk; gürültüyü ayırır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 (−1 gürültü)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yoğunluk zor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 varyans, doğrusal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Skor, yük, oran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Varyans ≠ önem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 / UMAP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olmayan görselleştirme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2-B harita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Uzaklıklar anlamsız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abone yük profilleri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tarife/talep yönetimi için tipik profil grupları ve her gruba mühendislik adı. Gerçek tipler ayrı dosyada — algoritma görmez, yalnızca son kontrol.</a:t>
            </a:r>
            <a:endParaRPr lang="en-US" sz="1500" dirty="0"/>
          </a:p>
        </p:txBody>
      </p:sp>
      <p:pic>
        <p:nvPicPr>
          <p:cNvPr id="6" name="Image 0" descr="/home/claude/yz_temelleri/img/abone_profil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6151" y="2286000"/>
            <a:ext cx="6999393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abone × 24 saat (kW), 2-40 kW arası. Şekle göre kümelemek için önce ortalamaya böl, sonra standartlaştır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küme merkezleri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Merkezleri isimlendirmek denetimsiz öğrenmenin 'değerlendirme' adımıdır: mühendis anlam veremiyorsa küme işe yaramaz.</a:t>
            </a:r>
            <a:endParaRPr lang="en-US" sz="1500" dirty="0"/>
          </a:p>
        </p:txBody>
      </p:sp>
      <p:pic>
        <p:nvPicPr>
          <p:cNvPr id="6" name="Image 0" descr="/home/claude/yz_temelleri/img/kume_merkezl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8546" y="1965960"/>
            <a:ext cx="7414604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merkez bir 'tipik gün': hangisi ofis, hangisi 3 vardiya sanayi, hangisi restoran?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+ PCA iskeleti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91008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 = pd.read_csv("abone_profilleri.csv"); P = ab.drop(columns="abone_id").values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 = P / P.mean(1, keepdims=True)                    # şekil: ortalama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StandardScaler().fit_transform(Pn)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9):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KMeans(k, n_init=10, random_state=0).fit(Z)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round(km.inertia_), round(silhouette_score(Z, km.labels_), 3))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KMeans(5, n_init=10, random_state=0).fit(Z)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PCA(2).fit_transform(Z)                          # görselleştirme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büyüklüğü değil şekli kümele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n_init=10: 10 başlangıç, en iyisi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silhouette_score: iç ölçüt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PCA(2): 24 → 2 boyut, çizim için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gelecek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N → inertia 0: en iyi mi?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Ölçeksiz k-means: kümeler neye göre oluşur?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Dendrogramda yüksekte birleşme?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PC1 %40, PC2 %35, PC3 %5: kaç bileşen?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özellik 1000 kat büyük: PC1?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yok; proje bildirimleri iade edilir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yapay sinir ağları — perceptron, aktivasyon, ileri yayılım elle, XOR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8 — Ara Sınav ve Denetimsiz Öğrenme</dc:title>
  <dc:subject>PptxGenJS Presentation</dc:subject>
  <dc:creator>PptxGenJS</dc:creator>
  <cp:lastModifiedBy>PptxGenJS</cp:lastModifiedBy>
  <cp:revision>1</cp:revision>
  <dcterms:created xsi:type="dcterms:W3CDTF">2026-09-22T16:34:51Z</dcterms:created>
  <dcterms:modified xsi:type="dcterms:W3CDTF">2026-09-22T16:34:51Z</dcterms:modified>
</cp:coreProperties>
</file>