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Sunumları, Dönem Özeti ve Final Hazırlığı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Sunumlar • rubrik • kavram haritası • yöntem seçim ağacı • formül özeti • örnek final soruları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hafta. Önce sizin işiniz: projeler. Sonra 15 haftayı tek haritaya sığdırıp finale hazırlanıyoruz.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1–2 — Proje sunumları: grup başına 10 dk (7 + 3); akran formu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Dönem özeti: kavram haritası, yöntem seçim ağacı, formül özeti; örnek final soruları; final formatı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yapısı: 10 dakika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'Yapay zekâ kullandık' değil: 'ridge, naif tabandan %38 az MAE — zaman bölmesiyle'.</a:t>
            </a:r>
            <a:endParaRPr lang="en-US" sz="1500" dirty="0"/>
          </a:p>
        </p:txBody>
      </p:sp>
      <p:pic>
        <p:nvPicPr>
          <p:cNvPr id="6" name="Image 0" descr="/home/claude/yz_temelleri/img/sunum_yap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87241"/>
            <a:ext cx="11094415" cy="27979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soru: tabanı geçtik mi, ne kadar, hangi bölmeyle, nerede başarısız? Kod ekran görüntüsü yok, sonuç grafiği var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(100 puan)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5" name="Image 0" descr="/home/claude/yz_temelleri/img/rubr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188" y="1280160"/>
            <a:ext cx="10561320" cy="4526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öğretim elemanı + %20 akran. Karmaşık model puan değil; doğru bölme ve dürüst karşılaştırma puan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Rubrik ayrıntısı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658037"/>
                <a:gridCol w="1040101"/>
                <a:gridCol w="4160406"/>
                <a:gridCol w="32358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puan için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Sık eksik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&amp; ölçüt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Kimin, hangi karar; ölçüt önceden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'doğruluk' dengesizde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&amp; bölme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Zaman/grup bölmesi; ölçekleme eğitimle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 bölme; test ile ölçekleme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Naif/çoğunluk + klasik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taban 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&amp; doğrulama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CV; test bir kez; ± yayılım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kümesinde ayar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analizi &amp; güvenilirlik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Karışıklık/artık; en kötü örnekler; kalibrasyon/kayma; alt grup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 toplam skor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Sunum &amp; kod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Yapı, süre, çalışan defter, tohum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çalışmayan defter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hatalar (geçmiş dönemlerden)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kümesinde hiperparametre seçmek → iyimser skor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serisinde rastgele bölme; aynı makinenin iki tarafta olması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 sınıfta 'doğruluk %95' (çoğunluk %94)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Ölçekleyiciyi tüm veriyle fit etmek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tohum, tek sayı: ± yok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var, hata analizi yok: model NEREDE yanılıyor?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model ilk adım; taban yok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haritası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Omurga hiç değişmedi: dürüst bölme, taban, ölçüt, hata analizi. Değişen, modelin kapasitesi ve veri türü.</a:t>
            </a:r>
            <a:endParaRPr lang="en-US" sz="1500" dirty="0"/>
          </a:p>
        </p:txBody>
      </p:sp>
      <p:pic>
        <p:nvPicPr>
          <p:cNvPr id="6" name="Image 0" descr="/home/claude/yz_temelleri/img/donem_harit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053" y="1965960"/>
            <a:ext cx="10101588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blok: temel &amp; veri (1–4), klasik öğrenme (5–8), derin öğrenme (9–13), uygulama &amp; sorumluluk (14–15)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seçim ağacı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problemde soru sırası budur. Klasik model ilk aday; CNN ham görüntü/sinyalde; LSTM dizide — gecikmeli klasik modelden sonra.</a:t>
            </a:r>
            <a:endParaRPr lang="en-US" sz="1500" dirty="0"/>
          </a:p>
        </p:txBody>
      </p:sp>
      <p:pic>
        <p:nvPicPr>
          <p:cNvPr id="6" name="Image 0" descr="/home/claude/yz_temelleri/img/yontem_seci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840" y="2286000"/>
            <a:ext cx="6942015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Etiket? → hedef türü → veri türü → model; her dalda aynı kontrol listesi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Dersin veri setleri: taban, model, ölçüt, tuzak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92913"/>
                <a:gridCol w="1957838"/>
                <a:gridCol w="2392913"/>
                <a:gridCol w="2392913"/>
                <a:gridCol w="19578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Tuzak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Yük/PV (H5, 13)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mevsimsel naif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gecikme + ridge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MAPE/MAE, beceri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 bölme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arızası (H6)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çoğunluk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lojistik, orman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maliyetli eşik, 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'doğruluk'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Rulman (H7)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çoğunluk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+ orman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makro-F1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makine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Aboneler (H8)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silhouette, yorum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(H12)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çoğunluk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artırma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kusur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Rakam (H11)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çoğunluk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→ CNN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ile ayar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 özeti 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596565"/>
                <a:gridCol w="7789696"/>
                <a:gridCol w="7081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grad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∂L/∂w = (2/n)Σ(ŷ−y)x; w ← w − η∇L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(XᵀX + λI)⁻¹Xᵀy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Log-loss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−[y log p + (1−y) log(1−p)]; ∂L/∂z = p − 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/ R / 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TP/(TP+FP); TP/(TP+FN); 2PR/(P+R)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Σpₖ²; kazanç = G_ebeveyn − ağırlıklı G_çocuk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/ silhouette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Σ‖x − μ‖²; s = (b−a)/max(a,b)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kovaryans özvektörleri; λₖ/Σλ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 özeti II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596565"/>
                <a:gridCol w="7789696"/>
                <a:gridCol w="7081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yayılım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δ_l = (W_{l+1}ᵀδ_{l+1}) ⊙ f′(z_l); ∂L/∂W_l = δ_l a_{l−1}ᵀ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+ 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pₖ = eᶻᵏ/Σeᶻʲ; L = −log p_y; ∂L/∂zₖ = pₖ − 1[k=y]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Konv. boyut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⌊(n + 2p − k)/s⌋ + 1; param = k²·C_in·C_out + C_out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param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4·(H·(F+H) + 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/ beceri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100·ort|y−ŷ|/|y|; 1 − MAE_model/MAE_naif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Kuantizasyon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(max−min)/255; z = round(−min/s); q = round(w/s) + 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Dikkat / ECE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softmax(QKᵀ/√d)·V;  Σ(nₖ/N)|sıklık − tahmin|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format ve ağırlıklar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 elle hesap (ders örneklerinin türü), %30 senaryo/yorum, %20 kod okuma (hata nerede?).</a:t>
            </a:r>
            <a:endParaRPr lang="en-US" sz="1500" dirty="0"/>
          </a:p>
        </p:txBody>
      </p:sp>
      <p:pic>
        <p:nvPicPr>
          <p:cNvPr id="6" name="Image 0" descr="/home/claude/yz_temelleri/img/final_agirl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09" y="1965960"/>
            <a:ext cx="10384277" cy="3840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dk, 8 soru, kapalı kitap + A4 formül kâğıdı (elle, iki yüz); hesap makinesi serbest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1 — gradyan adımı (H5)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wx + b; (2, 5), (4, 9); w = 1, b = 0, η = 0.05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[2, 4]; hata = [−3, −5]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 = (2/2)(−6 − 20) = −26; ∂L/∂b = −8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 + 0.05·26 = 2.3; b = 0.4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100× büyük → gradyan 10⁴× → ıraksar → ölçekleme şart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2 — maliyetli eşik (H6)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motor, 150 arızalı. Eşik 0.5: TP 90, FP 40. Eşik 0.3: TP 130, FP 150. FN 5000 ₺, FP 300 ₺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0.5: FN 60; P 0.692, R 0.600; maliyet 312 000 ₺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0.3: FN 20; P 0.464, R 0.867; maliyet 145 000 ₺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eşik precision'ı düşürür ama maliyeti yarılar → 0.3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p* ≈ C_FP/(C_FP + C_FN) — kalibre olasılık şartıyla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3 — geri yayılım (H10)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 → z₁ = 0.5x → ReLU → z₂ = −2a₁ = ŷ; L = (ŷ − 1)²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İleri: z₁ = 0.5, a₁ = 0.5, ŷ = −1, L = 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δ₂ = 2(ŷ − y) = −4; ∂L/∂w₂ = δ₂a₁ = −2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δ₁ = w₂δ₂ReLU′ = 8; ∂L/∂w₁ = 8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 = −0.5 → ReLU′ = 0 → gradyan 0: ölü ReLU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4 — CNN boyutu (H12)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1×64×64 → Conv(16, k5, p2) → Pool2 → Conv(32, k3, p1, s2) → GAP → Linear(32→4)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64 → 16×64×64; 416 param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Pool: 16×32×32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Conv2: ⌊(32+2−3)/2⌋+1 = 16 → 32×16×16; 4640 param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32 → Linear 132. Toplam 5188 (int8 5.1 KB); ≈ 2.8 M MAC → 28 ms @ 100 MHz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5 — zaman serisi senaryosu (H13)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tahmini: rastgele bölme, tüm seride scaler, rolling(24).mean(), MAPE %2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rastgele → zaman bölmesi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scaler tüm seri → yalnız eğitim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rolling(24) hedefi içerir → shift(h).rolling(24)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gece sıfırda patlar → MAE / nMAE, gündüz ayrı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soru 6 — kod okuma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131572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 = StandardScaler().fit(X)                       # X: tüm veri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train_test_split(sc.transform(X), y, test_size=0.2)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nn.Sequential(nn.Linear(20, 64), nn.ReLU(), nn.Linear(64, 3), nn.Softmax(dim=1))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nn.CrossEntropyLoss()(model(torch.tensor(Xtr)), torch.tensor(ytr))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1: scaler test verisini görmüş → önce böl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2: Softmax + CrossEntropyLoss = çift softmax → son katman ham logit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stratify=y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Dersten sonra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Pratik: EPİAŞ şeffaflık, NASA rulman, UCI, Kaggle — her projede taban, bölme, ölçüt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Derinleşme: d2l.ai (ücretsiz), ISLR (ücretsiz PDF), PyTorch öğreticileri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EEM'e özel: ISO 13373 + ML, IEEE PES öğreticileri, tinyml.org / Edge Impulse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önemlisi: kendi sensör verinizle uçtan uca küçük bir proje — veri toplamaktan MCU'ya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sayfa özet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Teşekkürler. Final: formül kâğıdı hazırlayın, örnek soruları elle çözüp defterle kontrol edin.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= veriden karar; ML = hatayı azaltarak parametre öğrenme; DÖ = katmanlı temsil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Hat: problem → veri → bölme → taban → model → doğrulama → dağıtım → izleme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modeller çoğu EEM problemini çözer; DÖ ham görüntü/sinyal/dizide ve çok veride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Ölçütü problem seçer; taban olmadan sayı anlamsız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Kalibrasyon, belirsizlik, kayma, alt grup olmadan model güvenilir değil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Sorumluluk modelle bitmez: emniyet katmanı, gizlilik, düzenleme, model kartı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15 — Proje Sunumları, Dönem Özeti ve Final Hazırlığı</dc:title>
  <dc:subject>PptxGenJS Presentation</dc:subject>
  <dc:creator>PptxGenJS</dc:creator>
  <cp:lastModifiedBy>PptxGenJS</cp:lastModifiedBy>
  <cp:revision>1</cp:revision>
  <dcterms:created xsi:type="dcterms:W3CDTF">2026-09-22T17:56:13Z</dcterms:created>
  <dcterms:modified xsi:type="dcterms:W3CDTF">2026-09-22T17:56:13Z</dcterms:modified>
</cp:coreProperties>
</file>