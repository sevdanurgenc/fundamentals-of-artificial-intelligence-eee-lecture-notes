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Zaman serisinde rastgele ayrım = komşu saatler sızar. Gruplu veride (aynı motorun 100 kaydı) grup bazında ayır: model motoru değil arızayı öğrenmeli.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 Öğrenmesinin Temel Kavramları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Genelleme • veri ayrımı • aşırı öğrenme • hata ölçütleri • çapraz doğrulama • veri kaçağı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Bugünün planı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hiçbir 'algoritma' öğrenmiyoruz; onun yerine her algoritmanın doğru kullanılması için gereken kavramları kuruyoruz. Sonraki 10 haftanın tamamı bu haftanın kelimeleriyle konuşacak.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86000"/>
            <a:ext cx="1109441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1 — Öğrenme türleri ayrıntılı; model / parametre / hiperparametre; eğitim–doğrulama–test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2 — Aşırı ve eksik öğrenme, yanlılık–varyans, hata ölçütleri (elle), çapraz doğrulama, veri kaçağı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3 — Uygulama: veri ayrımı, taban modeller, MAE/RMSE/R², polinom derecesi deneyi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/ sınıflandırma / kümeleme ayrımını yapmak; problemi eşlemek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 ile hiperparametreyi ayırt etmek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Veriyi neden ve nasıl böldüğünü açıklamak; zaman serisinde doğru ayrım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Aşırı/eksik öğrenmeyi öğrenme eğrisinden teşhis etmek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MAE, MSE, RMSE, MAPE, R² elle hesaplamak ve seçmek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k-katlı çapraz doğrulama; veri kaçağını tanımak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modelden önce taban model kurmak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türleri ve alt türleri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problem iki şekilde kurulabilir: 'kalan ömür kaç saat?' regresyon, 'bir hafta içinde arızalanır mı?' sınıflandırma. Hangisi? Tahminin besleyeceği karara göre.</a:t>
            </a:r>
            <a:endParaRPr lang="en-US" sz="1500" dirty="0"/>
          </a:p>
        </p:txBody>
      </p:sp>
      <p:pic>
        <p:nvPicPr>
          <p:cNvPr id="6" name="Image 0" descr="/home/claude/yz_temelleri/img/mo_turler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823" y="2286000"/>
            <a:ext cx="9418048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Regresyon: sayı; sınıflandırma: sınıf; kümeleme: grup; boyut indirgeme: yeni özellikler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türleri ve değerlendirme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799094"/>
                <a:gridCol w="2248868"/>
                <a:gridCol w="2398792"/>
                <a:gridCol w="3598189"/>
                <a:gridCol w="1049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 tür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Değerlendirme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 sayı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RMSE, R²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Sınıflandırma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 / olasılık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Doğruluk, precision, recall, F1, ROC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Denetimsiz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Kümeleme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 numarası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Küme içi dağılım, silüet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Denetimsiz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Boyut indirgeme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özellikler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Açıklanan varyans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Denetimsiz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 tespiti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Normal/anormal skoru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Bilinen anomalilerde recall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Pekiştirmeli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Eylem politikası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ödül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parametre, hiperparametre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ŷ = f(X; w). Parametreler (w) VERİDEN öğrenilir; hiperparametreler MÜHENDİS tarafından öğrenme öncesi seçilir. Parametreler eğitim kümesiyle, hiperparametreler doğrulama kümesiyle belirlenir — veri ayrımının nedeni budur.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4415" cy="914400"/>
        </p:xfrm>
        <a:graphic>
          <a:graphicData uri="http://schemas.openxmlformats.org/drawingml/2006/table">
            <a:tbl>
              <a:tblPr/>
              <a:tblGrid>
                <a:gridCol w="2852850"/>
                <a:gridCol w="3803799"/>
                <a:gridCol w="443776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Parametreler (öğrenilir)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Hiperparametreler (seçilir)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regresyon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Katsayılar w, sabit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λ, özellik dönüşümleri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Yok (veri saklanır)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k, uzaklık ölçüsü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ağacı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Bölme kuralları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 derinlik, min yaprak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Sinir ağı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Ağırlıklar, sapmalar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Katman/nöron sayısı, öğrenme oranı, epoch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Genelleme ve veri ayrımı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 eğitimde gördüğünde değil, görmediğinde iyi olmak. Eğitim hatası genelleme hakkında yanıltıcıdır: ezberleyen modelin eğitim hatası sıfırdır. Test kümesine bakarak ayar yapmak, sınav sorularını görüp çalışmaktır.</a:t>
            </a:r>
            <a:endParaRPr lang="en-US" sz="1500" dirty="0"/>
          </a:p>
        </p:txBody>
      </p:sp>
      <p:pic>
        <p:nvPicPr>
          <p:cNvPr id="7" name="Image 0" descr="/home/claude/yz_temelleri/img/veri_ayrim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041" y="2286000"/>
            <a:ext cx="10809613" cy="35204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Eğitim: parametreleri öğren • Doğrulama: hiperparametre seç • Test: EN SONDA, BİR KEZ raporla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yapısına göre ayrım stratejisi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4314495"/>
                <a:gridCol w="400631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yapısı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 ayrım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Yanlış ayrım → sonuç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Bağımsız örnekler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 karıştır, %70/15/15 (stratify)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 serisi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Zamana göre: ilk %80 eğitim, son %20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 → komşu saatler sızar, iyimser hata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Gruplu (motor, hasta, cihaz)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GroupKFold: bir grup ya eğitimde ya testte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Kayıt bazında → model grubu ezberler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veri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k-katlı çapraz doğrulama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ayrım → şansa bağlı sonuç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 ve eksik öğrenme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basit model veriyi anlatamaz (eksik öğrenme, yüksek yanlılık): eğitim ve test hatası yüksek. Çok karmaşık model gürültüyü de ezberler (aşırı öğrenme, yüksek varyans): eğitim hatası ~0, test hatası büyük.</a:t>
            </a:r>
            <a:endParaRPr lang="en-US" sz="1500" dirty="0"/>
          </a:p>
        </p:txBody>
      </p:sp>
      <p:pic>
        <p:nvPicPr>
          <p:cNvPr id="6" name="Image 0" descr="/home/claude/yz_temelleri/img/asiri_ogren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09009"/>
            <a:ext cx="11094415" cy="307442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25 noktaya uydurulan 1., 3. ve 15. derece polinomlar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eğrisi: karmaşıklığa karşı hata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grafiği epoch sayısına (sinir ağı) veya ağaç derinliğine karşı da çizebilirsiniz; şekil hep aynıdır. İki eğrinin ayrıştığı nokta aşırı öğrenmenin başladığı yerdir.</a:t>
            </a:r>
            <a:endParaRPr lang="en-US" sz="1500" dirty="0"/>
          </a:p>
        </p:txBody>
      </p:sp>
      <p:pic>
        <p:nvPicPr>
          <p:cNvPr id="6" name="Image 0" descr="/home/claude/yz_temelleri/img/karmasiklik_egr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9285" y="2286000"/>
            <a:ext cx="6513124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hatası hep düşer; doğrulama hatası U biçimli — en iyi model dipte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Teşhis tablosu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389960"/>
                <a:gridCol w="2927693"/>
                <a:gridCol w="47767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Belirti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Teşhis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↑, doğrulama ↑ ve yakın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Eksik öğrenme (yanlılık)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karmaşık model, daha iyi özellikler, daha uzun eğitim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↓, doğrulama ≫ eğitim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Aşırı öğrenme (varyans)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Daha fazla veri, basit model, düzenlileştirme, erken durdurma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ikisi ↓ ve yakın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İyi genelleme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kümesinde raporla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Doğrulama &lt; eğitim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Şüpheli: kaçak / ayrım hatası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Ayrımı ve ön işleme sırasını kontrol 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Yanlılık–varyans dengesi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6692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hatası = yanlılık² + varyans + indirgenemez gürültü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Yanlılık: sistematik hata — yanlış varsayım ('ilişki doğrusaldır')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Varyans: eğitim verisinin rastgeleliğine duyarlılık — veri değişse model çok değişir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Gürültü: ölçümün doğasında; hiçbir model gideremez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Karmaşıklık ↑ → yanlılık ↓, varyans ↑ → toplam U biçimli</a:t>
            </a:r>
            <a:endParaRPr lang="en-US" sz="1600" dirty="0"/>
          </a:p>
        </p:txBody>
      </p:sp>
      <p:pic>
        <p:nvPicPr>
          <p:cNvPr id="6" name="Image 0" descr="/home/claude/yz_temelleri/img/yanlilik_vary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4458" y="1280160"/>
            <a:ext cx="4314940" cy="4572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0" y="589788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4.5 Hedef tahtası benzetmesi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ölçütleri: artık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 kadar iyi?' sorusunun cevabı ölçüte bağlıdır ve ölçütü seçmek mühendisin işidir. MAE: ortalama kaç kW şaşıyoruz. RMSE: büyük hataları karesiyle cezalandırır. MAPE: yüzde; y ≈ 0 iken patlar. R²: açıklanan varyans oranı.</a:t>
            </a:r>
            <a:endParaRPr lang="en-US" sz="1500" dirty="0"/>
          </a:p>
        </p:txBody>
      </p:sp>
      <p:pic>
        <p:nvPicPr>
          <p:cNvPr id="6" name="Image 0" descr="/home/claude/yz_temelleri/img/artik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9036" y="2286000"/>
            <a:ext cx="5993623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Artık e = y − ŷ; tüm regresyon ölçütleri bundan türer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ölçütleri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386802"/>
                <a:gridCol w="3544049"/>
                <a:gridCol w="1232713"/>
                <a:gridCol w="493085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Birim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(1/N) Σ |yᵢ − ŷᵢ|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Eşit maliyetli hatalar, aykırılara dayanıklı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(1/N) Σ (yᵢ − ŷᵢ)²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Eğitimde kayıp (türevi kolay)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√MSE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hata pahalıysa; raporlama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(100/N) Σ |eᵢ|/|yᵢ|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Farklı ölçekleri karşılaştırma; y≈0 ise KULLANMA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Σeᵢ² / Σ(yᵢ − ȳ)²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Açıklanan varyans; 0 = ortalama kadar; negatif olabilir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4.1 — Beş tahmin için ölçütler (elle)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[100, 120, 115, 140, 160], ŷ = [105, 115, 125, 135, 150] kW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Artıklar e = [−5, 5, −10, 5, 10];  Σ|e| = 35;  Σe² = 275;  ȳ = 127;  Σ(y−ȳ)² = 2180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35/5 = 7.0 kW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= 275/5 = 55 kW²  →  RMSE = √55 = 7.42 kW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= (5/100 + 5/120 + 10/115 + 5/140 + 10/160)/5 × 100 = %5.5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1 − 275/2180 = 0.874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&gt; MAE → hatalar eşit değil (10'lar var). R² = 0.87 → değişimin %87'si açıklanıyor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4.2 — Hangi model?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modelin eğitim / doğrulama RMSE'leri (kW): A doğrusal 18.2 / 18.9 • B polinom-3 11.4 / 12.1 • C polinom-12 3.1 / 27.5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eğitim hatası en düşük ama doğrulama 9 katı → aşırı öğrenme, elenir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iki hata yakın ama yüksek → eksik öğrenme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hem düşük hem yakın → SEÇİLİR; sonra test RMSE'si bir kez raporlanır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hatasına bakarak C'yi seçen mühendis sahada 27.5 kW hata görürdü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k-katlı çapraz doğrulama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ayrım şansa bağlıdır: doğrulamaya 'kolay' örnekler düşmüşse model iyi görünür. k kat ile her örnek tam bir kez doğrulanır. Std de bilgidir: ortalamaları yakın iki modelden sapması büyük olan kararsızdır. Zaman serisinde TimeSeriesSplit.</a:t>
            </a:r>
            <a:endParaRPr lang="en-US" sz="1500" dirty="0"/>
          </a:p>
        </p:txBody>
      </p:sp>
      <p:pic>
        <p:nvPicPr>
          <p:cNvPr id="6" name="Image 0" descr="/home/claude/yz_temelleri/img/capraz_dogrul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415" y="2286000"/>
            <a:ext cx="8886865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kat bir kez doğrulama; sonuç: ortalama ± std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4.3 — 5 katın ortalaması ve sapması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değerleri: 12.1, 13.4, 11.8, 14.9, 12.8 kW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= 65.0/5 = 13.0 kW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Sapmalar: −0.9, 0.4, −1.2, 1.9, −0.2 → kareler toplamı 6.06 → σ = √(6.06/5) = 1.10 kW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rapor: RMSE = 13.0 ± 1.1 kW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ayrımda 11.8 çıkıp 'hata 12' demek iyimser; en kötü kat 14.9 sahada da mümkün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kaçağı: en sinsi hata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bilgisinin eğitime sızması. Her şey yolunda görünür, sahada çöker. En yaygın biçim: ölçekleyici / imputer tüm veriye fit edilir; test kümesinin μ, σ eğitime karışır.</a:t>
            </a:r>
            <a:endParaRPr lang="en-US" sz="1500" dirty="0"/>
          </a:p>
        </p:txBody>
      </p:sp>
      <p:pic>
        <p:nvPicPr>
          <p:cNvPr id="6" name="Image 0" descr="/home/claude/yz_temelleri/img/veri_kaca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219" y="2286000"/>
            <a:ext cx="9929258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böl → fit(eğitim) → transform(test). Pipeline bu sırayı otomatik korur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Kaçak türleri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031372"/>
                <a:gridCol w="4531522"/>
                <a:gridCol w="45315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 işleme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Scaler tüm veriye fit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 → fit(eğitim) → transform(test); Pipeline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'Fatura tutarı' ile tüketimi tahmin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 anında bilinemeyecek sütunları at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 ayrım; gelecekten özellik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Zamana göre ayrım; sadece geçmiş pencere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motor hem eğitimde hem testte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GroupKFold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Ayar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Hiperparametreyi test hatasına göre seçmek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Doğrulama/CV; test bir kez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4.4 — Kaçağın sayısal etkisi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solidFill>
            <a:srgbClr val="FBF6EE"/>
          </a:solidFill>
          <a:ln w="12700">
            <a:solidFill>
              <a:srgbClr val="E0C9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Eğitim: sıcaklık μ = 20, σ = 6. Test (sıcak günler): μ = 28. Tüm veri: μ = 22, σ = 7. Test örneği 28 °C'nin z-skoru?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1054577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Doğru — eğitim parametreleri: z = (28 − 20)/6 = 1.33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Yanlış — tüm veriye fit: z = (28 − 22)/7 = 0.86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yöntem sıcak günü 'sıradan' gösterir → klima yükü düşük tahmin edilir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 scaler eğitim parametreleriyle çalışır → değerlendirmedeki başarı gerçekleşmez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model: her şeyden önce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modele başlamadan basit bir referans kurun: ortalama (R² = 0'ın tanımı), saatlik profil, 'dünün aynı saati'. Taban modeli yenemeyen sinir ağı, yanlış kurulmuş bir problemin işaretidir.</a:t>
            </a:r>
            <a:endParaRPr lang="en-US" sz="1500" dirty="0"/>
          </a:p>
        </p:txBody>
      </p:sp>
      <p:pic>
        <p:nvPicPr>
          <p:cNvPr id="6" name="Image 0" descr="/home/claude/yz_temelleri/img/taban_modell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1079" y="2286000"/>
            <a:ext cx="7869537" cy="3520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(25-27. gün): ortalama vs saatlik profil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Taban modeller — kod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498080" cy="2273300"/>
          </a:xfrm>
          <a:prstGeom prst="rect">
            <a:avLst/>
          </a:prstGeom>
          <a:solidFill>
            <a:srgbClr val="F3F3F1"/>
          </a:solidFill>
          <a:ln w="9525">
            <a:solidFill>
              <a:srgbClr val="D9D9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17320"/>
            <a:ext cx="7132320" cy="199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pd.read_csv("elektrik_tuketimi.csv")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df[df.tuketim_kW &lt; 300].copy(); df["sicaklik_C"] = df["sicaklik_C"].interpolate()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egitim, test = df[df.gun &lt;= 24], df[df.gun &gt; 24]      # zamana göre ayrım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rapor(ad, y, yp):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print(f"{ad:24s} MAE={mean_absolute_error(y, yp):6.2f} RMSE={np.sqrt(mean_squared_error(y, yp)):6.2f} R2={r2_score(y, yp):6.3f}")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rapor("Taban: ortalama", test.tuketim_kW, np.full(len(test), egitim.tuketim_kW.mean()))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 = egitim.groupby("saat")["tuketim_kW"].mean()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rapor("Taban: saatlik profil", test.tuketim_kW, test.saat.map(profil))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0" y="1280160"/>
            <a:ext cx="323057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1-24. gün eğitim, 25-30. gün test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eğitimden hesaplanır (kaçak yok)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haftada regresyon bunları yenmeye çalışacak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içi sorular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 ömür (saat) vs bir hafta içinde arıza (E/H): hangisi regresyon? Bakım ekibi için hangisi?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RMSE 2, doğrulama 20: teşhis ve üç çare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[50, 200], ŷ = [60, 190]: MAE ve MAPE; MAPE neden ilkini daha çok cezalandırır?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Saatlik yükü rastgele böldünüz, R² = 0.98: neden güvenmemelisiniz?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Scaler'ı tüm veriye fit etmek neden kaçak? Hangi parametreler sızar?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sınav 1 ve ödev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Zekâ Temelleri — Hafta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1109441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sınav 1 (gelecek hafta başı, 15 dk): YZ/MÖ/DÖ ilişkisi + EEM örneği; MAE/RMSE elle; aşırı öğrenme tanımı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defteri: zamana göre vs rastgele ayrım (farkı ölçün), 3 taban model, ölçütler elle + sklearn, polinom derecesi deneyi, 5-katlı CV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Alıştırmalar defterin sonunda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hafta: doğrusal regresyon — taban modelleri yenen ilk gerçek model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4 — Makine Öğrenmesinin Temel Kavramları</dc:title>
  <dc:subject>PptxGenJS Presentation</dc:subject>
  <dc:creator>PptxGenJS</dc:creator>
  <cp:lastModifiedBy>PptxGenJS</cp:lastModifiedBy>
  <cp:revision>1</cp:revision>
  <dcterms:created xsi:type="dcterms:W3CDTF">2026-09-22T16:01:34Z</dcterms:created>
  <dcterms:modified xsi:type="dcterms:W3CDTF">2026-09-22T16:01:34Z</dcterms:modified>
</cp:coreProperties>
</file>