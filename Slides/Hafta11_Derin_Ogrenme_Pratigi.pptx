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Pratiği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+ çapraz entropi • MNIST • öğrenme eğrileri • erken durdurma • weight decay • dropout • batch norm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motoru (geri yayılım) gördük. Bu hafta arabayı sürmeyi öğreniyoruz: gerçek bir veri setinde eğitimi kurmak, eğrileri okumak ve aşırı öğrenmeyle başa çıkmak.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Softmax + CE (elle); MNIST; MLP; eğitim/doğrulama/test protokolü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Aşırı öğrenmeyle mücadele: erken durdurma, weight decay, dropout, veri artırma; başlangıç, batch norm; eğrileri okumak; hiperparametre stratejisi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MNIST MLP, düzenlileştirme deneyleri, hata analizi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ve CE'yi elle hesaplamak; K-sınıflı çıktı katmanı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→ vektör → MLP; parametre sayısı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Eğrilerden aşırı öğrenmeyi teşhis; erken durdurma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ve dropout: ne yapar, etkisi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başlangıcı ve batch norm neden gerekir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protokolü: taban → büyüt → düzenlileştir → hata analizi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ve çapraz entropi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sınıf → K logit zₖ; softmax: pₖ = eᶻᵏ / Σ eᶻʲ (toplam 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Kayıp: L = −log p_y — yalnızca doğru sınıfın olasılığı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Gradyan: ∂L/∂zₖ = pₖ − 1[k=y]  → 'tahmin − gerçek (one-hot)'; 10. haftanın üç formülü aynen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tahmin kaybı = log K (10 sınıf: 2.303)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nn.CrossEntropyLoss softmax'ı İÇERİR → model ham logit üretir; ayrıca softmax EKLEME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11.1 — Softmax + CE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[1.0, 2.0, 0.5], gerçek sınıf y =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= [2.718, 7.389, 1.649], toplam 11.756 → p = [0.231, 0.629, 0.140]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= −log 0.629 = 0.464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= p − onehot(1) = [0.231, −0.371, 0.140] (toplam 0)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 olsaydı: −log 0.140 = 1.966 — model o sınıfa %14 vermişti, çok cezalanır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(1/3): log 3 = 1.099; MNIST'te iyi model ≈ 0.05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 derin öğrenmenin 'merhaba dünya'sı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görüntüyü 784 vektöre düzleştirip MLP'ye veriyoruz; 12. haftada 2-B yapıyı koruyan CNN. Colab'da torchvision ile iner; defterde internet yoksa sklearn digits yedeği var.</a:t>
            </a:r>
            <a:endParaRPr lang="en-US" sz="1500" dirty="0"/>
          </a:p>
        </p:txBody>
      </p:sp>
      <p:pic>
        <p:nvPicPr>
          <p:cNvPr id="6" name="Image 0" descr="/home/claude/yz_temelleri/img/mnist_ornek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0797"/>
            <a:ext cx="11094415" cy="26108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rakam, 28×28 gri, 10 sınıf; 60k eğitim (+%10 doğrulama), 10k test; pikseller /255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mimarisi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Parametre/örnek ≈ 4.4 — klasik bakışla çok; ama örnek başına 784 sayı bilgi, SGD gürültüsü ve düzenlileştirme frenler. Ölçüt: parametre sayısı değil, eğitim–doğrulama farkı.</a:t>
            </a:r>
            <a:endParaRPr lang="en-US" sz="1500" dirty="0"/>
          </a:p>
        </p:txBody>
      </p:sp>
      <p:pic>
        <p:nvPicPr>
          <p:cNvPr id="6" name="Image 0" descr="/home/claude/yz_temelleri/img/mlp_mn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7261"/>
            <a:ext cx="11094415" cy="27979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→ 256 → 128 → 10; 235 146 parametre; Flatten + Linear/ReLU + logit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ve eğitim (yardımcı fonksiyonla)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91008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nn.Sequential(nn.Flatten(),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nn.Linear(784, 256), nn.ReLU(),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nn.Linear(256, 128), nn.ReLU(),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nn.Linear(128, 10))          # logit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print(sum(p.numel() for p in model.parameters()))   # 235146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gecmis = egit(model, epoch=15, lr=1e-3, bs=128)    # defterdeki egit(): Adam, CE, her epoch tr/va kayıp+doğruluk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ciz({"MLP": gecmis})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Flatten: (N,28,28) → (N,784)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katman ham logit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egit(): 10. haftanın döngüsü + kayıt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ciz(): eğitim/doğrulama eğrileri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eğrilerini okumak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epoch eğitim ve doğrulama kaybını çiz — en önemli teşhis aracı. 4. haftanın tablosu aynen: düşmüyorsa η/gradyan/veri; ayrışıyorsa aşırı öğrenme; ikisi yüksekse eksik öğrenme.</a:t>
            </a:r>
            <a:endParaRPr lang="en-US" sz="1500" dirty="0"/>
          </a:p>
        </p:txBody>
      </p:sp>
      <p:pic>
        <p:nvPicPr>
          <p:cNvPr id="6" name="Image 0" descr="/home/claude/yz_temelleri/img/dropout_etk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387" y="2286000"/>
            <a:ext cx="1059292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Düzenlileştirmesiz: eğitim kaybı → 0, doğrulama ↑ (aşırı öğrenme). Dropout + wd farkı kapatır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Teşhis rehberi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191544"/>
                <a:gridCol w="3495501"/>
                <a:gridCol w="44073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yapmalı?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kaybı düşmüyor / NaN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büyük; ölçeksiz girdi; etiket hatası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η/10; ölçekle; tek batch ezberlet (sağlık testi)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yavaş düşüyor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küçük; kaybolan gradyan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η↑; ReLU + He; batch norm; Adam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↓, doğrulama ↑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Aşırı öğrenme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Erken durdur; dropout; wd; veri artır; küçült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İkisi de yüksek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öğrenme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Büyüt; uzun eğit; CNN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 &lt; eğitim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sadece eğitimde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Zikzak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küçük, η büyük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Batch↑; η↓; schedule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Düzenlileştirme araç kutusu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durdurma: doğrulama kaybı dipteyken ağırlıkları sakla; sabır 5-10 epoch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(L2) = ridge: optim.Adam(..., weight_decay=1e-4)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(Hinton 2012): eğitimde rastgele nöron kapat (p 0.2-0.5); ağ hiçbir nörona güvenemez → yedekli temsil; testte hepsi açık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artırma: döndür, kaydır, gürültü → sanal veri (12. hafta)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norm: hızlandırır + hafif düzenlileştirir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Küçültme: daha az nöron/katman</a:t>
            </a:r>
            <a:endParaRPr lang="en-US" sz="1500" dirty="0"/>
          </a:p>
        </p:txBody>
      </p:sp>
      <p:pic>
        <p:nvPicPr>
          <p:cNvPr id="6" name="Image 0" descr="/home/claude/yz_temelleri/img/dropout_s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438110"/>
            <a:ext cx="5242255" cy="22561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11.4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11.3 — Dropout ölçeklemesi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[2, 4, 6, 8], p = 0.5; eğitimde 2. ve 4. nöron kapalı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dropout: açıklar 1/(1−p) = 2 ile çarpılır → [4, 0, 12, 0]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Testte: kapatma yok, ölçekleme yok → [2, 4, 6, 8]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eğitim çıktısı (1−p)·a/(1−p) = a → iki rejim tutarlı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eğitim modunda otomatik; model.eval() dropout'u kapatır — UNUTMA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ve batch normalization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(2015): katman girdisini mini-batch'te standartlaştır + öğrenilebilir ölçek/kayma. Sonuç: büyük η, hızlı yakınsama, başlangıca duyarsızlık, hafif düzenlileştirme. Testte hareketli ortalamalar → model.eval().</a:t>
            </a:r>
            <a:endParaRPr lang="en-US" sz="1500" dirty="0"/>
          </a:p>
        </p:txBody>
      </p:sp>
      <p:pic>
        <p:nvPicPr>
          <p:cNvPr id="6" name="Image 0" descr="/home/claude/yz_temelleri/img/baslangic_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06860"/>
            <a:ext cx="11094415" cy="2678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katman: küçük başlangıçta aktivasyon söner; He (N(0, 2/n_in)) korur; BatchNorm sabitler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Teknikler ve PyTorch karşılığı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852850"/>
                <a:gridCol w="4754749"/>
                <a:gridCol w="34868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Erken durdurma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epoch'ta state_dict kaydet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sabır 5-10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Adam(weight_decay=1e-4)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 – 1e-3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nn.Dropout(p)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– 0.5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artırma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torchvision.transforms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±10°, %10 kaydırma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norm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nn.BatchNorm1d/2d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Linear/Conv sonra, aktivasyon önce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stratejisi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Sağlık testi: tek mini-batch'i ezberlet — olmuyorsa kod hatalı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Taban: küçük ağ, Adam 1e-3, düzenlileştirmesiz; eğriye bak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Eksik öğrenme → büyüt, uzun eğit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Aşırı öğrenme → dropout / wd / veri artırma; erken durdurma HER ZAMAN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η: 3 kat aralıklarla tara (3e-4, 1e-3, 3e-3) — en etkili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2-3 tohum, sapmayı raporla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Hata analizi: karışıklık matrisi, yanlış örnekler → sistematik hata = veri sorunu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11.4 — Erken durdurma kararı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 kaybı: 0.52, 0.31, 0.22, 0.17, 0.15, 0.14, 0.14, 0.15, 0.17, 0.19, 0.22; sabır 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 0.14 → 6. epoch (7. epoch iyileşme değil)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 8, 9: üç ardışık iyileşmesiz → 9. epoch sonunda dur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ağırlıklar: 6. epoch (kaydedilmiş en iyi)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epoch'a devam: son ağırlık 0.22 → %57 daha kötü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kazandırır + 'epoch sayısı' hiperparametresini otomatik seçer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durdurma iskeleti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63652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en_iyi, sabir, bekleme = float("inf"), 5,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range(100):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model.train()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xb, yb in yukleyici: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opt.zero_grad(); L = F.cross_entropy(model(xb), yb); L.backward(); opt.step()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model.eval()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torch.no_grad(): va = F.cross_entropy(model(X_va), y_va).item()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 &lt; en_iyi: en_iyi, bekleme = va, 0; torch.save(model.state_dict(), "en_iyi.pt")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bekleme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bekleme &gt;= sabir: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model.load_state_dict(torch.load("en_iyi.pt"))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state_dict: ağırlıklar sözlüğü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torch.save / load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Sabır: kaç epoch bekle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 SONDA bir kez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analizi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Sistematik karışıklıklar model değil, veri/özellik sorunudur. Yanlış örneklere bakın: bazıları insan için de belirsizdir — %100 doğruluk hedefi gerçekçi değil.</a:t>
            </a:r>
            <a:endParaRPr lang="en-US" sz="1500" dirty="0"/>
          </a:p>
        </p:txBody>
      </p:sp>
      <p:pic>
        <p:nvPicPr>
          <p:cNvPr id="6" name="Image 0" descr="/home/claude/yz_temelleri/img/mnist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7268" y="2286000"/>
            <a:ext cx="331716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Karışıklık matrisi: hangi rakamlar karışıyor (4↔9, 3↔5, 7↔1 tipik)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sınıflanan örnekler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/home/claude/yz_temelleri/img/mnist_yanl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86576"/>
            <a:ext cx="11094415" cy="17134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gerçek, t: tahmin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Kısa sınav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[0,0,0]: softmax? kayıp? neden 'rastgele tahmin kaybı'?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katmana Softmax + CrossEntropyLoss → 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çağırmadan dropout'lu test?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↔ ridge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%99.9, doğrulama %97.5, test %97.4: hangisi raporlanır?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sınav 3: softmax/CE elle; tek nöron gradyanı; erken durdurma + dropout iki cümle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CNN — konvolüsyon, filtre, havuzlama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11 — Derin Öğrenme Pratiği</dc:title>
  <dc:subject>PptxGenJS Presentation</dc:subject>
  <dc:creator>PptxGenJS</dc:creator>
  <cp:lastModifiedBy>PptxGenJS</cp:lastModifiedBy>
  <cp:revision>1</cp:revision>
  <dcterms:created xsi:type="dcterms:W3CDTF">2026-09-22T16:55:13Z</dcterms:created>
  <dcterms:modified xsi:type="dcterms:W3CDTF">2026-09-22T16:55:13Z</dcterms:modified>
</cp:coreProperties>
</file>