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Sinir Ağlarına Giriş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Nöron • perceptron • aktivasyon • XOR • çok katmanlı ağ • ileri yayılım • evrensel yaklaşım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Bugünün planı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Sürpriz: sinir ağının tek nöronu, 5. ve 6. haftadaki modellerin ta kendisi. Yeni olan, nöronları katmanlar hâlinde bağlamak — böylece ağ, özellik dönüşümünü (klima = max(T−24,0) gibi) kendisi öğrenir.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44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1 — Biyolojik esin, yapay nöron, perceptron kuralı (elle), aktivasyonlar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2 — XOR ve gizli katman; MLP; ileri yayılım matrislerle (elle); evrensel yaklaşım; mimari seçimi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3 — Uygulama: NumPy ile ileri yayılım, perceptron, sklearn MLP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Nöron hesabını elle yapmak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 kuralını uygulamak; sınırını bilmek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Sigmoid/tanh/ReLU ve türevleri; neden ReLU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XOR: tek katman yetmez, gizli katman çözer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yayılımı matris biçiminde yazmak; parametre saymak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Evrensel yaklaşım; derinlik/genişlik kuralı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nöron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Beyin nöronu: dendritlerden gelen sinyalleri toplar, eşiği aşarsa ateşler; sinaps güçleri öğrenmeyle değişir. McCulloch-Pitts (1943) bunu matematiğe indirgedi, Rosenblatt (1958) ağırlıkları veriden öğretti.</a:t>
            </a:r>
            <a:endParaRPr lang="en-US" sz="1500" dirty="0"/>
          </a:p>
        </p:txBody>
      </p:sp>
      <p:pic>
        <p:nvPicPr>
          <p:cNvPr id="6" name="Image 0" descr="/home/claude/yz_temelleri/img/no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3532" y="2286000"/>
            <a:ext cx="7584631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Σ wᵢxᵢ + b  →  a = f(z). Sigmoid seçilirse = lojistik regresyon; aktivasyon yoksa = doğrusal regresyon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Benzetme ve önceki haftalarla bağ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Biyolojik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Yapay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derste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Dendrit girdileri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Özellikler 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Sıcaklık, saat, RMS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Sinaps gücü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Ağırlık w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Regresyon katsayısı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Sapma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Sabit terim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Ateşleme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Aktivasyon f(z)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 → olasılık; ReLU → kırık çizgi (klima özelliği!)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Plastisite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Ağırlık güncelleme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Gradyan inişi → geri yayılım (10. hafta)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 ve öğrenme kuralı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Basamak aktivasyon: z ≥ 0 → 1, değilse 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yanlışsa w ← w + η(y − ŷ)x, b ← b + η(y − ŷ); doğruysa dokunma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negatif → ağırlıklar x yönünde artar; yanlış pozitif → azalır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Teorem: doğrusal ayrılabilirse sonlu adımda hatasız bulur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Sınır: ayrılamıyorsa asla yakınsamaz; sınır hep bir doğru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Türev yok — ama basamak fonksiyonu gradyanla öğrenilemez (ileride sorun)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9.1 — Perceptron ile AND (elle)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AND: (0,0)→0 (0,1)→0 (1,0)→0 (1,1)→1. w = (0,0), b = 0, η = 1. Örnekleri sırayla gez.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 1: (0,0): z=0 → ŷ=1 ✗ → b=−1;  (0,1),(1,0) ✓;  (1,1): z=−1 → 0 ✗ → w=(1,1), b=0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 2: (0,0) ✗ → b=−1; (0,1) ✗ → w=(1,0), b=−2; (1,0) ✓; (1,1) ✗ → w=(2,1), b=−1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 3-5: güncellemeler sürer… Tur 6: (2,1,−3) hepsi doğru → yakınsadı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Sınır: 2x₁ + x₂ − 3 ≥ 0 — AND'i ayırır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Defterde 10 satır kod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 fonksiyonları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Basamak: türev 0 → öğrenilemez. Sigmoid: (0,1), türev ≤ 0.25, |z| büyüyünce sıfır → çok katmanda 'kaybolan gradyan'. tanh: sıfır merkezli, aynı doygunluk. ReLU: ucuz, türev 1, kaybolmaz; kusuru 'ölü nöron' → Leaky/ELU/GELU.</a:t>
            </a:r>
            <a:endParaRPr lang="en-US" sz="1500" dirty="0"/>
          </a:p>
        </p:txBody>
      </p:sp>
      <p:pic>
        <p:nvPicPr>
          <p:cNvPr id="6" name="Image 0" descr="/home/claude/yz_temelleri/img/aktivasyon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52100"/>
            <a:ext cx="11094415" cy="2388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 olmadan kaç katman olursa olsun ağ doğrusaldır (doğrusalların bileşimi doğrusal)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823739"/>
                <a:gridCol w="2735609"/>
                <a:gridCol w="1519783"/>
                <a:gridCol w="2127696"/>
                <a:gridCol w="28875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Fonksiyon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Aralık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Türev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Basamak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1[z≥0]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{0,1}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Perceptron (tarihî)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1/(1+e⁻ᶻ)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σ(1−σ) ≤ 0.25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İkili çıktı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(eᶻ−e⁻ᶻ)/(eᶻ+e⁻ᶻ)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(−1,1)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1−tanh²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 kapıları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max(0,z)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[0,∞)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Gizli katman (varsayılan)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Leaky ReLU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max(0.01z, z)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0.01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Ölü nöron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eᶻⁱ/Σeᶻʲ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dağılım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sınıflı çıktı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9.2 — Softmax elle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sınıf skoru z = [2.0, 1.0, −1.0]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e² = 7.389, e¹ = 2.718, e⁻¹ = 0.368 → toplam 10.475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[0.705, 0.259, 0.035] — toplam 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büyük skor en büyük olasılık; diğerleri sıfır değil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− max(z) ile hesapla: sayısal taşma yok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durumda softmax = sigmoid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ve gizli katman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Minsky-Papert (1969): perceptron XOR'u öğrenemez, tek doğru yetmez → 1. YZ kışı. Gizli katman girdiyi yeni bir uzaya (h₁, h₂) haritalar; orada doğrusal ayrılır. Ağ, özellik dönüşümünü KENDİSİ öğrenir.</a:t>
            </a:r>
            <a:endParaRPr lang="en-US" sz="1500" dirty="0"/>
          </a:p>
        </p:txBody>
      </p:sp>
      <p:pic>
        <p:nvPicPr>
          <p:cNvPr id="6" name="Image 0" descr="/home/claude/yz_temelleri/img/x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32487"/>
            <a:ext cx="11094415" cy="32274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= ReLU(x₁+x₂−0.5), h₂ = ReLU(x₁+x₂−1); ŷ = 1[h₁ − 2h₂ &gt; 0.25] → XOR çözüldü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katmanlı ağ (MLP)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bağlı katmanların dizilişi. MNIST için 784-128-10 ağ: 101 770 parametre. Girdiden çıktıya hesap = ileri yayılım (tahmin); eğitim = geri yayılım (10. hafta).</a:t>
            </a:r>
            <a:endParaRPr lang="en-US" sz="1500" dirty="0"/>
          </a:p>
        </p:txBody>
      </p:sp>
      <p:pic>
        <p:nvPicPr>
          <p:cNvPr id="6" name="Image 0" descr="/home/claude/yz_temelleri/img/mlp_s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9403" y="2286000"/>
            <a:ext cx="6672890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z⁽ˡ⁾ = W⁽ˡ⁾a⁽ˡ⁻¹⁾ + b⁽ˡ⁾, a⁽ˡ⁾ = f(z⁽ˡ⁾). W⁽ˡ⁾: (bu katman nöron sayısı × önceki). 2-3-1 ağ: 13 parametre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yayılım akışı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5" name="Image 0" descr="/home/claude/yz_temelleri/img/ileri_yayil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41595"/>
            <a:ext cx="11094415" cy="26034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Matris çarpımı → aktivasyon → matris çarpımı → aktivasyon → kayıp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9.3 — 2-3-1 ileri yayılım (elle)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W⁽¹⁾ = [[1,−1],[0,2],[1,1]], b⁽¹⁾ = [0,−1,−1], ReLU; W⁽²⁾ = [1,−2,1], b⁽²⁾ = 0.5, sigmoid. x = (1, 0.5), y =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z⁽¹⁾ = [1−0.5+0, 0+1−1, 1+0.5−1] = [0.5, 0, 0.5]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ReLU = [0.5, 0, 0.5]  (2. nöron kapalı)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z⁽²⁾ = 0.5 − 0 + 0.5 + 0.5 = 1.5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σ(1.5) = 1/(1+0.223) = 0.818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log-loss = −log 0.818 = 0.201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Kapalı nörona gradyan akmaz — 10. hafta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9.4 — Parametre sayısı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 10 → gizli 64 → gizli 32 → çıktı 4 (softmax)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1: 64×10 + 64 = 704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2: 32×64 + 32 = 2080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3: 4×32 + 4 = 132 → toplam 2916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regresyon (4 sınıf): 44 parametre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Aktivasyonsuz: W₃W₂W₁ x + sabit = tek 4×10 doğrusal dönüşüm → 2916 parametre 44'ten fazlasını yapamaz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 parametreleri 'işe yarar' kılar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Evrensel yaklaşım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Teorem: tek gizli katman, yeterince geniş → her sürekli fonksiyon. 'Var' der, 'öğrenilebilir' demez. Derinlik çoğu zaman aynı işi çok daha az parametreyle yapar (hiyerarşik özellikler: kenar → doku → nesne).</a:t>
            </a:r>
            <a:endParaRPr lang="en-US" sz="1500" dirty="0"/>
          </a:p>
        </p:txBody>
      </p:sp>
      <p:pic>
        <p:nvPicPr>
          <p:cNvPr id="6" name="Image 0" descr="/home/claude/yz_temelleri/img/evrensel_yaklas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11313"/>
            <a:ext cx="11094415" cy="28698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ReLU nöron bir kırılma noktası; nöron sayısı arttıkça parçalı doğrusal eğri hedefi izler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Derinlik mi, genişlik mi?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5" name="Image 0" descr="/home/claude/yz_temelleri/img/derinlik_genisl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94143"/>
            <a:ext cx="11094415" cy="349831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Pratik: 2-3 gizli katman, 16-256 nöronla başla; öğrenme eğrisine göre ayarla; düzenlileştir (11. hafta)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verisinde karar sınırları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veri, aynı iki özellik. Gizli katman eklendikçe sınır esnekleşir; doğrulama hatası söyler ne kadarın yeterli olduğunu.</a:t>
            </a:r>
            <a:endParaRPr lang="en-US" sz="1500" dirty="0"/>
          </a:p>
        </p:txBody>
      </p:sp>
      <p:pic>
        <p:nvPicPr>
          <p:cNvPr id="6" name="Image 0" descr="/home/claude/yz_temelleri/img/mlp_sin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01646"/>
            <a:ext cx="11094415" cy="316910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gizli = lojistik (doğrusal); 4 nöron: eğri; 32+32: esnek — aşırı öğrenmeye dikkat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türüne göre mimari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3698138"/>
                <a:gridCol w="2157247"/>
                <a:gridCol w="2465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Gizli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Kayıp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İkili sınıflandırma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katman, 16-64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sigmoid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Log-loss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sınıflı (K)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katman, 32-128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softmax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Çapraz entropi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Regresyon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katman, 16-64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doğrusal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/ MAE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Görüntü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(12. hafta)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Çapraz entropi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Zaman serisi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/ 1-B CNN (13. hafta)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MLPClassifier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1728470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gizli in ((), (4,), (16,), (32, 32)):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gizli: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 = make_pipeline(StandardScaler(), MLPClassifier(hidden_layer_sizes=gizli, max_iter=2000, random_state=0))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 = make_pipeline(StandardScaler(), LogisticRegression())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model.fit(Xtr, ytr); p = model.predict_proba(Xte)[:, 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print(gizli, "AUC:", round(roc_auc_score(yte, p), 3))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hidden_layer_sizes: tuple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 şart (gradyan inişi)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 içeride; gelecek hafta kendimiz yazacağız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random_state: başlangıç ağırlıkları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içi sorular / gelecek hafta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nöron + sigmoid vs lojistik regresyon: fark?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Aktivasyonsuz 10 katman = 1 doğrusal katman: matrislerle göster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Sigmoidli 20 katman: ilk katman gradyanı neden ~0?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3-5-2 ağ: parametre? Girdi 1000 olsa?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için perceptron ağırlıkları kafadan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yok; Ödev 5 gelecek hafta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zincir kuralı, geri yayılım elle, PyTorch autograd, ilk eğitim döngüsü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9 — Yapay Sinir Ağlarına Giriş</dc:title>
  <dc:subject>PptxGenJS Presentation</dc:subject>
  <dc:creator>PptxGenJS</dc:creator>
  <cp:lastModifiedBy>PptxGenJS</cp:lastModifiedBy>
  <cp:revision>1</cp:revision>
  <dcterms:created xsi:type="dcterms:W3CDTF">2026-09-22T16:41:57Z</dcterms:created>
  <dcterms:modified xsi:type="dcterms:W3CDTF">2026-09-22T16:41:57Z</dcterms:modified>
</cp:coreProperties>
</file>