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Histogram sağa çarpık. Profil: sabah 6'dan yükselir, 18-19'da tepe. Saçılım: 24 °C'ye kadar düz, sonra artan eğri — klima yükü. 5. haftada max(T−24, 0) özellik dönüşümü.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ile Tanışma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• tanımlayıcı istatistik • eksik/aykırı değer • keşifsel veri analizi (EDA) • ölçekleme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Bugünün planı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MÖ projesinde zamanın %60-80'i veride geçer. Bu hafta o işin araçlarını öğreniyoruz: veriyi yüklemek, tanımak, temizlemek ve grafiklerle sorgulamak. Model henüz yok; sürprizleri modelden önce yakalamak amaç.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1 — Veri nedir? Veri türleri, tanımlayıcı istatistik (elle örnekler)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2 — pandas: yükleme, seçme, gruplama; eksik ve aykırı değerler; ölçekleme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3 — Uygulama: elektrik tüketimi veri setinde uçtan uca EDA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Sayısal/kategorik, sürekli/kesikli veri türlerini ayırt etmek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Ortalama, medyan, std, çeyrekler ve korelasyonu elle ve pandas ile hesaplamak; ne zaman yanıltıcı olduklarını bilmek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yüklemek; satır/sütun seçmek, filtrelemek, gruplamak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ve aykırı değerleri tespit etmek; stratejiyi gerekçesiyle seçmek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Histogram, saçılım, kutu, çizgi grafiklerini üretmek ve yorumlamak; korelasyon matrisini okumak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ve z-skor ölçeklemeyi açıklamak ve uygulamak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türleri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bir tablodur: satır = örnek, sütun = özellik, biri hedef. SCADA kaydında satır zaman damgası, sütunlar ölçüm noktalarıdır. Sütunun türü onunla ne yapabileceğinizi belirler: kategorik sütun sayıya çevrilmeden modele giremez.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1897729"/>
                <a:gridCol w="1897729"/>
                <a:gridCol w="3503500"/>
                <a:gridCol w="37954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tür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Nasıl işlenir?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Sayısal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Sıcaklık 23.7 °C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Doğrudan; genellikle ölçeklenir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Sayısal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Kesikli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0-23, arıza sayısı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Doğrudan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tipi: asenkron/senkron/DC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kodlama (7. hafta)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Yük: düşük &lt; orta &lt; yüksek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Sıralı tam sayı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İkili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sonu mu?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Doğrudan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Zaman damgası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2026-09-22 14:00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Saat, gün, hafta sonu özelliklerine ayrıştır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Yapısal olmayan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Görüntü, ses, metin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Termal kamera görüntüsü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 öğrenme (12-13. hafta)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Dersin veri seti: elektrik_tuketimi.csv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gün × 24 saat = 720 satır. Sentetik ama gerçekçi: günlük yük profili, hafta sonu %25 düşük, 24 °C üstünde klima yükü, gürültü. Eksik ve aykırı değerler öğretim için bilerek eklendi.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Verinin nasıl üretildiğini bilmek bir avantaj: bulduğumuz kalıpları doğrulayabiliriz. Gerçek hayatta bu lüks yok; kalıplar fiziksel bilgiyle doğrulanır.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94415" cy="914400"/>
        </p:xfrm>
        <a:graphic>
          <a:graphicData uri="http://schemas.openxmlformats.org/drawingml/2006/table">
            <a:tbl>
              <a:tblPr/>
              <a:tblGrid>
                <a:gridCol w="2483824"/>
                <a:gridCol w="1987059"/>
                <a:gridCol w="662353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Sütun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Ayın günü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0-23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Günün saati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hafta_sonu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Cumartesi/Pazar ise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sicaklik_C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Dış sıcaklık; 12 değer eksik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tuketim_kW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Saatlik ortalama güç — HEDEF; 1 aykırı değer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Tanımlayıcı istatistik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Veriye bakmanın ilk yolu birkaç sayıyla özetlemek: merkez nerede, yayılım ne kadar, değişkenler birlikte nasıl hareket ediyor. Std, sinyal işlemedeki AC gücü fikridir. Korelasyon yalnızca doğrusal ilişkiyi yakalar.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Dikkat: pandas std() N−1'e böler (ddof=1), NumPy N'e (ddof=0). Elle örneklerde N'e böleceğiz.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94415" cy="914400"/>
        </p:xfrm>
        <a:graphic>
          <a:graphicData uri="http://schemas.openxmlformats.org/drawingml/2006/table">
            <a:tbl>
              <a:tblPr/>
              <a:tblGrid>
                <a:gridCol w="2311337"/>
                <a:gridCol w="4622673"/>
                <a:gridCol w="416040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söyler?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Ortalama x̄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(1/N) Σ xᵢ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Merkez; aykırılara duyarlı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Medyan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Sıralı verinin ortası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Merkez; aykırılara dayanıklı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Varyans σ²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(1/N) Σ (xᵢ − x̄)²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Yayılım (kare birim) = gürültü gücü fikri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σ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√σ²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Yayılım (orijinal birim)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Q3 − Q1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 %50'nin genişliği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Korelasyon 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Σ(xᵢ−x̄)(yᵢ−ȳ) / √(Σ(xᵢ−x̄)² Σ(yᵢ−ȳ)²)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 ilişki, −1..+1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3.1 — Aykırı değerin etkisi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Tüketim (kW): 100, 110, 120, 130, 140 → ortalama, medyan, std? Sonra 140 yerine hatalı 950 girilirse?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= 600/5 = 120; medyan = 120; sapmalar −20,−10,0,10,20 → σ² = 1000/5 = 200 → σ = 14.14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Aykırı ile: x̄ = 1410/5 = 282; medyan = 120 (değişmedi!)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 = 558280/5 = 111656 → σ ≈ 334.1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hatalı değer: ortalama 2.3×, std 24× büyüdü; medyan sabit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aykırı değer kontrolü modelden ÖNCE; raporda ortalama ile birlikte medyan da verilir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3.2 — Pearson korelasyonu elle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[20, 24, 28, 32] (°C), y = [80, 90, 110, 140] (kW). r = 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= 26, ȳ = 105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Sapma çarpımları: (−6)(−25) + (−2)(−15) + (2)(5) + (6)(35) = 150 + 30 + 10 + 210 = 400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Σ(x−x̄)² = 36+4+4+36 = 80;  Σ(y−ȳ)² = 625+225+25+1225 = 2100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400 / √(80 × 2100) = 400 / 409.88 ≈ 0.976 → güçlü pozitif doğrusal ilişki (klima yükü)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0.95: y'deki değişimin %95'i x ile doğrusal açıklanıyor (5. haftada R²)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np.corrcoef(x, y)[0, 1] → 0.976. Korelasyon ≠ nedensellik; ama tahmin için iyi bir özellik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veri analizi (EDA) adımları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tablo verisi için DataFrame (tablo) ve Series (sütun) sunar; NumPy'ın üstüne kuruludur, sütun isimleri, eksik veri ve gruplama işlerini kolaylaştırır. EDA, modele geçmeden önce veriyi 'tanıma' sürecidir.</a:t>
            </a:r>
            <a:endParaRPr lang="en-US" sz="1500" dirty="0"/>
          </a:p>
        </p:txBody>
      </p:sp>
      <p:pic>
        <p:nvPicPr>
          <p:cNvPr id="6" name="Image 0" descr="/home/claude/yz_temelleri/img/eda_ak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50008"/>
            <a:ext cx="11094415" cy="29924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 → bak → temizle → görselleştir → soru sor → modele hazırla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yükleme ve ilk bakış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1728470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pd.read_csv("elektrik_tuketimi.csv")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          # (720, 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               # ilk 5 satır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            # tipler, dolu değer sayısı -&gt; sicaklik_C: 708 (12 eksik)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          # count, mean, std, min, %25, %50, %75, max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        # sütun başına eksik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describe(): ilk şüpheler burada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tuketim_kW max ≈ 950, %75 ≈ 135 → 7 kat! Hata mı, olay mı?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info(): 708/720 → 12 eksik sıcaklık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iki satır, saatlerce süren model hatasından kurtarır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kullanılan pandas işlemleri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EDA'nın en güçlü aracı: 'her saat için ortalama tüketim' tek satırdır ve sonucu doğrudan günlük yük profilidir.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815001"/>
                <a:gridCol w="82794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Sütun seç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df['tuketim_kW']  /  df[['saat', 'tuketim_kW']]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df[df['hafta_sonu'] == 1]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Çoklu koşul (&amp; ve |)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df[(df.saat &gt;= 8) &amp; (df.saat &lt;= 18)]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Sırala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df.sort_values('tuketim_kW', ascending=False)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sütun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df['tuketim_W'] = df.tuketim_kW * 1000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Gruplama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df.groupby('saat')['tuketim_kW'].mean()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df.groupby('hafta_sonu')['tuketim_kW'].agg(['mean', 'median', 'std'])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Kaydet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df.to_csv('temiz.csv', index=False)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ve aykırı değer stratejileri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veri hiçbir zaman temiz değildir: sensör kopar, iletişim kesilir, birim karışır. Çoğu algoritma NaN ile hiç çalışmaz; aykırı değer ortalamayı ve modeli çarpıtır. Ama 'temizlemek' her zaman 'silmek' değildir.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1664162"/>
                <a:gridCol w="2496243"/>
                <a:gridCol w="3328325"/>
                <a:gridCol w="360568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Tespit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Seçenekler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Eksik (NaN)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isna().sum(), info()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 / ortalama-medyan / ffill / interpolate / eksikliği işaretle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ve rastgele → sil; zaman serisi → interpolasyon; bilgi taşıyorsa → işaretle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Aykırı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describe, kutu grafiği, IQR, z-skor, fiziksel sınır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 / clip / medyanla değiştir / BIRAK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 hatası → düzelt; gerçek olay → belki aradığınız şey!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3.3 — IQR kuralı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= 85 kW, Q3 = 145 kW. Aykırı değer sınırları? 950 kW aykırı mı?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145 − 85 = 60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= Q1 − 1.5·IQR = 85 − 90 = −5 → fiziksel olarak 0 (tüketim negatif olamaz)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 = Q3 + 1.5·IQR = 145 + 90 = 235 kW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 &gt; 235 → aykırı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Ama: kural gerçek sıcak-gün zirvelerini (240 kW) de işaretleyebilir → son söz fiziksel bilgide (bina kapasitesi, sensör aralığı)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Kod: q1, q3 = df.tuketim_kW.quantile([.25, .75]); ust = q3 + 1.5*(q3-q1)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Temizleme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2912713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2638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q1, q3 = df["tuketim_kW"].quantile([0.25, 0.75])</a:t>
            </a:r>
            <a:endParaRPr lang="en-US" sz="1487" dirty="0"/>
          </a:p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ust = q3 + 1.5 * (q3 - q1)</a:t>
            </a:r>
            <a:endParaRPr lang="en-US" sz="1487" dirty="0"/>
          </a:p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print(df[df["tuketim_kW"] &gt; ust])            # adayları GÖR</a:t>
            </a:r>
            <a:endParaRPr lang="en-US" sz="1487" dirty="0"/>
          </a:p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87" dirty="0"/>
          </a:p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Fiziksel sınır: bina kapasitesi ~300 kW -&gt; 950 imkânsız</a:t>
            </a:r>
            <a:endParaRPr lang="en-US" sz="1487" dirty="0"/>
          </a:p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temiz = df[df["tuketim_kW"] &lt; 300].copy()</a:t>
            </a:r>
            <a:endParaRPr lang="en-US" sz="1487" dirty="0"/>
          </a:p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87" dirty="0"/>
          </a:p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Eksik sıcaklık: zaman serisi -&gt; interpolasyon</a:t>
            </a:r>
            <a:endParaRPr lang="en-US" sz="1487" dirty="0"/>
          </a:p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temiz["sicaklik_C"] = temiz["sicaklik_C"].interpolate()</a:t>
            </a:r>
            <a:endParaRPr lang="en-US" sz="1487" dirty="0"/>
          </a:p>
          <a:p>
            <a:pPr indent="0" marL="0">
              <a:buNone/>
            </a:pPr>
            <a:r>
              <a:rPr lang="en-US" sz="1487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print(temiz.isna().sum())</a:t>
            </a:r>
            <a:endParaRPr lang="en-US" sz="1487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bak, sonra sil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 aday gösterir, fizik karar verir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.copy(): uyarıları önler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 ortalaması ile doldurmak gece 14 °C'ye 22 °C yazar → sıçrama; interpolasyon komşuları izler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değer doldurma: iki yöntem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5" name="Image 0" descr="/home/claude/yz_temelleri/img/eksik_doldur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716" y="1280160"/>
            <a:ext cx="8032264" cy="4526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3.2 Sütun ortalaması olmayan bir sıçrama yaratır; interpolasyon komşu saatleri izler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Görselleştirme ile keşif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istatistikler bazen yanıltır; aynı ortalama ve std'ye sahip iki veri seti tamamen farklı olabilir. Dört grafik dört soru: dağılım nasıl? zamanla nasıl? iki değişken birlikte nasıl? gruplar farklı mı?</a:t>
            </a:r>
            <a:endParaRPr lang="en-US" sz="1500" dirty="0"/>
          </a:p>
        </p:txBody>
      </p:sp>
      <p:pic>
        <p:nvPicPr>
          <p:cNvPr id="7" name="Image 0" descr="/home/claude/yz_temelleri/img/eda_grafik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7852"/>
            <a:ext cx="11094415" cy="30567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• saatlik profil • sıcaklık–tüketim saçılımı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Grafikleri okumak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6692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Histogram: tüketim sağa çarpık — çoğu saat 50-150 kW, az sayıda saat 200 kW üstü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Saatlik profil: sabah 6'dan yükselir, öğlen plato, 18-19'da tepe → 4. haftada 'geçen günün aynı saati' taban modeli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Saçılım: 24 °C'ye kadar sıcaklıktan bağımsız, sonra belirgin artış — klima yükü; ilişki kırık çizgi biçiminde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Kutu: hafta içi/sonu medyanları belirgin farklı → hafta_sonu değerli bir özellik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doğrusal olmayan kalıp, ileride bir özellik mühendisliği fırsatıdır</a:t>
            </a:r>
            <a:endParaRPr lang="en-US" sz="1500" dirty="0"/>
          </a:p>
        </p:txBody>
      </p:sp>
      <p:pic>
        <p:nvPicPr>
          <p:cNvPr id="6" name="Image 0" descr="/home/claude/yz_temelleri/img/kutu_graf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41670"/>
            <a:ext cx="5242255" cy="324897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0" y="589788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3.4 Kutu grafiği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Grafikler: kod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2497696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222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plt.subplots(1, 3, figsize=(13, 3.5))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temiz["tuketim_kW"].hist(bins=30, ax=ax[0])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temiz.groupby("saat")["tuketim_kW"].mean().plot(ax=ax[1], marker="o")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ax[2].scatter(temiz["sicaklik_C"], temiz["tuketim_kW"], s=8)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temiz.boxplot(column="tuketim_kW", by="hafta_sonu")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korr = temiz[["saat", "hafta_sonu", "sicaklik_C", "tuketim_kW"]].corr()</a:t>
            </a:r>
            <a:endParaRPr lang="en-US" sz="1236" dirty="0"/>
          </a:p>
          <a:p>
            <a:pPr indent="0" marL="0">
              <a:buNone/>
            </a:pPr>
            <a:r>
              <a:rPr lang="en-US" sz="1236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print(korr.round(2))</a:t>
            </a:r>
            <a:endParaRPr lang="en-US" sz="1236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hist: dağılım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profil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ilişki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boxplot: gruplar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corr(): korelasyon matrisi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matrisi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sütununa bakın: saat 0.67, sıcaklık 0.38, hafta sonu −0.26. Sıcaklığın 'orta' çıkması yanıltıcı: kırık çizgi ilişkisini Pearson tam yakalayamaz. Korelasyon tablosu tek başına yetmez; grafikle birlikte okunur.</a:t>
            </a:r>
            <a:endParaRPr lang="en-US" sz="1500" dirty="0"/>
          </a:p>
        </p:txBody>
      </p:sp>
      <p:pic>
        <p:nvPicPr>
          <p:cNvPr id="6" name="Image 0" descr="/home/claude/yz_temelleri/img/korelasyon_i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5088" y="2286000"/>
            <a:ext cx="4541520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3.5 Hedef (tuketim_kW) ile en güçlü ilişki saat sütununda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Ölçekleme: neden ve nasıl?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1.2'yi hatırlayın: sıcaklık (0-40) ve saat (0-23) farklı ölçeklerde. Uzaklık ve gradyan tabanlı yöntemler büyük aralıklı özelliği 'önemli' sanır; küçük olan fiilen yok sayılır. Ağaç tabanlı yöntemler ölçeğe duyarsızdır.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kural: ölçekleme parametreleri (min, max, μ, σ) sadece EĞİTİM verisinden hesaplanır, test verisine aynen uygulanır. Aksi hâlde veri kaçağı (4. hafta).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94415" cy="914400"/>
        </p:xfrm>
        <a:graphic>
          <a:graphicData uri="http://schemas.openxmlformats.org/drawingml/2006/table">
            <a:tbl>
              <a:tblPr/>
              <a:tblGrid>
                <a:gridCol w="1897729"/>
                <a:gridCol w="2919583"/>
                <a:gridCol w="1897729"/>
                <a:gridCol w="437937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Min-max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− min)/(max − min)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Sınırlar belli; sinir ağı girişi, piksel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Z-skor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− μ)/σ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μ=0, σ=1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amaçlı; aykırılara daha dayanıklı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− medyan)/IQR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≈[−1, 1]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Ağır aykırı değer varsa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log(1 + x)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Sıkıştırılmış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Sağa çarpık, büyüklük mertebeleri yayılan veri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3.4 — Min-max ve z-skor elle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Sıcaklık [20, 24, 28, 32] için ölçekli değerler?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Min-max: min 20, max 32, aralık 12 → [0, 0.333, 0.667, 1]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Z-skor: μ = 26; σ² = (36+4+4+36)/4 = 20; σ = 4.472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[−1.342, −0.447, 0.447, 1.342]  — 32 °C ortalamanın 1.34 std üstünde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sklearn: StandardScaler().fit_transform(x.reshape(-1, 1))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haftadan itibaren modelden önce hep ölçekleyeceğiz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 veri bulunur?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Kullanmadan önce üç soru: veri nasıl toplanmış (sensör, örnekleme hızı)? sütunlar ve BİRİMLER ne? lisans izin veriyor mu?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3169833"/>
                <a:gridCol w="792458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Kaynak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İçerik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gömülü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iris, diabetes, california_housing, digits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ML Repository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Electric Power, Combined Cycle Power Plant, Appliances Energy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grid, wind turbine SCADA, solar generation, binlerce set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CWRU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Rulman arıza titreşim verisi (7. hafta)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Prognostics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Batarya yaşlanma, motor kalan ömür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Kendi ölçümleriniz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Arduino/ESP32 kayıtları, osiloskop CSV, telefon sensörleri (Phyphox)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içi alıştırmalar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5 tüketim saati (gün + saat); sıcaklık ve gün tipini yorumlayın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içi / hafta sonu saatlik profilleri aynı eksende; tepe saatler farklı mı?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Sıcaklık–tüketim korelasyonu sadece 12-18 saatleri için; tüm veriyle karşılaştırın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Eksikleri (a) ortalama (b) interpolasyon ile doldurup eksik noktalarda karşılaştırın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tuketim_kW için |z| &gt; 3 satırları; IQR ile bulduklarınızla karşılaştırın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2 — EDA raporu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Veri: UCI Combined Cycle Power Plant (AT, V, AP, RH → PE) veya dersin veri seti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Veriyi tanıt (satır/sütun, türler, birimler)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/ aykırı analizi + gerekçeli karar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4 grafik (histogram, saçılım, kutu, korelasyon ısı haritası), her birine 1-2 cümle yorum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Hedefle en yüksek korelasyonlu 2 özellik + fiziksel açıklama (sıcaklık artınca gaz türbini verimi neden düşer?)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Teslim: Colab defteri, 'Restart and run all' hatasız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MÖ temel kavramları — eğitim/test ayrımı, aşırı öğrenme, hata ölçütleri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3 — Veri ile Tanışma</dc:title>
  <dc:subject>PptxGenJS Presentation</dc:subject>
  <dc:creator>PptxGenJS</dc:creator>
  <cp:lastModifiedBy>PptxGenJS</cp:lastModifiedBy>
  <cp:revision>1</cp:revision>
  <dcterms:created xsi:type="dcterms:W3CDTF">2026-09-22T15:39:40Z</dcterms:created>
  <dcterms:modified xsi:type="dcterms:W3CDTF">2026-09-22T15:39:40Z</dcterms:modified>
</cp:coreProperties>
</file>