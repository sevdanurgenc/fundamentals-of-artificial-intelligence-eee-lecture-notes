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Dersin felsefesini ilk günden söyleyin: kara kutu değil, araç. Değerlendirme yapısını (ödev %25, kısa sınav %10, ara %25, proje %20, final %20) kısaca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Sınıf sorusu: Termostat bir yapay zekâ mıdır? Dört bakışa göre tartıştırın. 'Akılcı ajan' bakışının mühendislik için neden verimli olduğunu vurgulayın: hedef ve 'en iyi' bir başarım ölçütüne çevrilebilir.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Tartışma: Perceptron 1958'de vardı, geri yayılım 1986'da biliniyordu. Neden 2012'de patladı? Veri (ImageNet 1.2M görüntü) + GPU (50-100x hız) + algoritma (ReLU, dropout). Üçü birden gerekti.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Spam filtresi örneği: 'bedava' kuralı → 'b.e.d.a.v.a' ile kırılır; her hile için yeni kural yazmak imkânsız. MÖ binlerce örnekten kalıpları öğrenir. EEM: rulman arızasının titreşimde nasıl göründüğünü elle formüle etmek çok zor, ama yüzlerce kayıt varsa model öğrenir.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Sınıf sorusu: Sıcaklık Kelvin yazılsaydı sıralama değişir miydi? (Hayır: sabit ekleme farkları değiştirmez.) Fahrenheit? (Evet: ölçek değişir.)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Zamanın %60-80'i veri toplama ve ön işlemede geçer. Model en havalı ama en küçük kısımdır. Basit taban modeli (ortalama, geçen günün aynı saati) yenemeyen karmaşık model işe yaramaz.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Zekâya Giriş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Elektrik-Elektronik Mühendisliği • 3 ders saati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 yapay zekâyı bir mühendislik aracı olarak ele alır: her yöntem önce küçük bir sayısal örnekle elle, sonra Python ile, en son hazır kütüphane ile yapılır. İlk üç hafta sözel ağırlıklıdır ve sizi Colab–Python–veri seti üçlüsüne ısındırır.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Yapay zekâ nedir? Tanımlar, tarihçe, YZ / MÖ / DÖ ilişkisi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Klasik programlama ile öğrenmenin farkı, öğrenme türleri, MÖ iş akışı, EEM'de uygulamalar, etik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Google Colab'a ilk adım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Dersin sonunda şunları yapabiliyor olmalısınız: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YZ, makine öğrenmesi, derin öğrenme terimlerini doğru kullanmak ve ilişkilerini çizmek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yazmak ile veriden öğrenmek arasındaki farkı bir örnekle açıklamak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 / denetimsiz / pekiştirmeli öğrenmeyi ayırt etmek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MÖ projesinin adımlarını sıralamak ve zamanın nerede geçtiğini bilmek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EEM'de en az beş YZ uygulaması sayabilmek; her biri için girdi ve çıktıyı söylemek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Colab'da defter açıp kod hücresi çalıştırmak, hata okumak ve kaydetmek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nedir? Dört bakış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'Zekâ' kelimesi tartışmalı olduğundan alanın kurucuları tek bir tanımda uzlaşamamıştır. Russell &amp; Norvig tarihsel tanımları iki eksende ayırır: hedef insan gibi mi, akılcı mı; ölçülen düşünce mi, davranış mı?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'akılcı davranan ajan' bakışı: zeki olmak için insan gibi düşünmek gerekmez, ölçülebilir bir hedefe en iyi ulaşmak yeter. Uçak kuş gibi kanat çırpmaz; yine de uçar.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250"/>
                <a:gridCol w="5120499"/>
                <a:gridCol w="34136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Yaklaşım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İnsan gibi davranan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Turing testi: yargıç makineyi insandan ayıramıyorsa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Sohbet botları, LLM asistanlar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İnsan gibi düşünen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Bilişsel modelleme: zihnin işleyişini taklit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Bilişsel bilim modelleri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Akılcı düşünen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Mantık kuralları ile doğru çıkarım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Uzman sistemler, teorem ispatlayıcı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Akılcı davranan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Eldeki bilgiyle hedefe en iyi ulaşan 'akılcı ajan'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Otonom araç, satranç, MPPT kontrolcüsü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⊃ Makine Öğrenmesi ⊃ Derin Öğrenme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terim birbirinin yerine kullanılır; oysa iç içe kümelerdir. Son on yılın görüntü, ses ve dil sıçramaları en içteki kümeden, derin öğrenmeden gelmiştir.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zekâ: zeki davranış üreten her yöntem — arama, mantık, planlama, öğrenme (öğrenmeyen yöntemler de var)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öğrenmesi: kuralları elle yazmak yerine örnek veriden çıkarmak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öğrenme: çok katmanlı sinir ağları; ham veriden özelliği kendisi çıkarır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YZ: metin / görüntü / ses üreten derin modeller (LLM, difüzyon) — en yeni dal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dilde karıştırılır; bu derste ayrımı hep koruyacağız</a:t>
            </a:r>
            <a:endParaRPr lang="en-US" sz="1600" dirty="0"/>
          </a:p>
        </p:txBody>
      </p:sp>
      <p:pic>
        <p:nvPicPr>
          <p:cNvPr id="7" name="Image 0" descr="/home/claude/yz_temelleri/img/yz_mo_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378" y="2286000"/>
            <a:ext cx="4271099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1.1 İç içe kümeler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terimler ve EEM karşılıkları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375"/>
                <a:gridCol w="4437766"/>
                <a:gridCol w="42792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EEM örneği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Yapay Zekâ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Zeki davranış üreten her tür yöntem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kol için yol planlama (A*)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Makine Öğrenmesi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 veriden öğrenen algoritmalar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Geçmiş ölçümlerden trafo arızası tahmini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 Öğrenme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katmanlı sinir ağları; özelliği veriden çıkarır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Termal görüntüden pano kusuru tespiti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Üretken YZ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metin/görüntü/ses üreten modeller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Şema açıklaması yazan asistan; sentetik eğitim verisi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tarihçe: vaatler ve kışlar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1956'da isim aldı, 1958'de perceptron ilk öğrenen makine oldu. Ama bilgisayarlar yavaş, veri kıttı; XOR eleştirisi (1969) ilk kışı getirdi. 1980'lerin uzman sistemleri kırılgan çıktı: ikinci kış. 2012'de AlexNet ile derin öğrenme dalgası başladı.</a:t>
            </a:r>
            <a:endParaRPr lang="en-US" sz="1500" dirty="0"/>
          </a:p>
        </p:txBody>
      </p:sp>
      <p:pic>
        <p:nvPicPr>
          <p:cNvPr id="7" name="Image 0" descr="/home/claude/yz_temelleri/img/tarih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936" y="2286000"/>
            <a:ext cx="8263824" cy="3520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'YZ kışı': beklentiler, hesaplama gücü ve veri yetersizliği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Tarihçe özeti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için mesaj: iyi algoritma tek başına yetmez; veri ve hesaplama gücü de gerekir.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627181"/>
                <a:gridCol w="4437766"/>
                <a:gridCol w="50294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 çıkanlar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 önemli?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1950-70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Turing testi, Dartmouth (1956), perceptron (1958), ELIZA (1966)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doğdu; ilk öğrenen makine, ilk sohbet programı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1974-80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YZ kışı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Hesaplama gücü ve veri yetersiz; XOR eleştirisi; fonlar kesildi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1980'ler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Uzman sistemler, geri yayılım (1986)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ticari uygulamalar; çok katmanlı ağlar eğitilebildi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1987-93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YZ kışı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Uzman sistemler kırılgan ve pahalı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1997-2010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Blue, SVM, büyük veri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ve hesaplama gücü sessizce birikti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AlexNet, AlphaGo, Transformer, ChatGPT, çok modlu modeller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+ büyük veri + açık kaynak = derin öğrenme devrimi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programlama ile makine öğrenmesi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programlamada mühendis kuralları yazar, bilgisayar veriye uygular: 'I &gt; 16 A ise kes'. Makine öğrenmesinde akış tersine döner: veri + doğru cevaplar verilir, algoritma kuralları (modeli) bulur; model sonra klasik program gibi kullanılır.</a:t>
            </a:r>
            <a:endParaRPr lang="en-US" sz="1500" dirty="0"/>
          </a:p>
        </p:txBody>
      </p:sp>
      <p:pic>
        <p:nvPicPr>
          <p:cNvPr id="7" name="Image 0" descr="/home/claude/yz_temelleri/img/klasik_vs_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6764" y="2286000"/>
            <a:ext cx="7478167" cy="3520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Klasikte kuralları biz yazarız; MÖ'de kuralları (modeli) algoritma veriden çıkarır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hangisi?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kural: problemi bir sayfada kurallarla anlatabiliyorsanız kural yazın; anlatamıyorsanız ama bol örneğiniz varsa öğrenin. İkisi rakip değil, tamamlayıcıdır.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366809"/>
                <a:gridCol w="3846064"/>
                <a:gridCol w="48815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programlama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Makine öğrenmesi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+ kurallar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+ doğru cevaplar (etiket)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Cevaplar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Kurallar (model)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Uygun olduğu durum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Kurallar açık, az ve sabit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Kurallar karmaşık, çok, değişken; bol örnek var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EEM örneği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Sigorta, PID kontrol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Titreşimden rulman arızası, yük tahmini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Zayıf yanı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durumu öngörmek imkânsız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Veriye bağımlı; kararı açıklamak zor; veri dışına genelleme zayıf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Belirlenimci, gerekçesi belli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İstatistiksel; tahmin hatalı olabilir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1.1 — Kural yazmak neden ölçeklenmez?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siyah-beyaz görüntüde el yazısı rakam tanıma: her olası görüntü için kural yazsak kaç görüntü var?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sayısı: 28 × 28 = 784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piksel 0/1 → olası görüntü sayısı 2^784 ≈ 10^236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Evrendeki atom sayısı ≈ 10^80 — kıyaslanamaz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MNIST'te 60.000 örnek var: 60.000 / 10^236 ≈ 0 → model EZBERLEYEMEZ, GENELLEMEK zorunda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'her durum için kural' imkânsız; sınırlı örnekten genelleme yapan bir fonksiyon gerekir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print(len(str(2**784)))  →  237 basamak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türleri (ilk bakış — ayrıntı 4. haftada)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Yöntemler, algoritmaya verilen geri bildirime göre üçe ayrılır. Denetimlide cevap sürekli sayıysa regresyon (kW, °C), kategoriyse sınıflandırma (arızalı/sağlam) denir.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2133541"/>
                <a:gridCol w="2844722"/>
                <a:gridCol w="42670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verilir?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öğrenilir?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EEM örneği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+ etiket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→ çıktı fonksiyonu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 tahmini (regresyon); arıza var/yok (sınıflandırma)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Denetimsiz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girdi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Kümeler, düşük boyutlu temsil, anomaliler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Abone tüketim profillerini gruplama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Pekiştirmeli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Ortam + ödül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Ödülü en çoklayan strateji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İnvertör MPPT kontrolü, batarya planlama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nasıl görünür? Satır = örnek, sütun = özellik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 öğrenmede veri bir tablodur. Üç özellik (sıcaklık, saat, hafta sonu) ve bir hedef (tüketim): modelin işi X sütunlarından y sütununa giden ilişkiyi bulmaktır.</a:t>
            </a:r>
            <a:endParaRPr lang="en-US" sz="1500" dirty="0"/>
          </a:p>
        </p:txBody>
      </p:sp>
      <p:pic>
        <p:nvPicPr>
          <p:cNvPr id="6" name="Image 0" descr="/home/claude/yz_temelleri/img/veri_tablo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922" y="2286000"/>
            <a:ext cx="8413852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bir örnek, her sütun bir özellik; son sütun tahmin edilecek hedef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'Öğrenme' fiilen nasıl olur?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ayarlanabilir parametrelere (w) sahip bir fonksiyondur: ŷ = f(X; w). Başta w rastgele, tahminler kötü. Her örnekte tahmin ile gerçek karşılaştırılır, hata ölçülür, w hatayı azaltacak yönde küçük bir adım güncellenir. Binlerce tekrar → hata düşer. 5. ve 10. haftada matematiği: gradyan inişi, geri yayılım.</a:t>
            </a:r>
            <a:endParaRPr lang="en-US" sz="1500" dirty="0"/>
          </a:p>
        </p:txBody>
      </p:sp>
      <p:pic>
        <p:nvPicPr>
          <p:cNvPr id="6" name="Image 0" descr="/home/claude/yz_temelleri/img/ogrenme_dongu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367" y="2560320"/>
            <a:ext cx="8258961" cy="3246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1.5 Tahmin et, hatayı ölç, parametreleri güncelle, tekrar et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1.2 — En yakın komşu ile tahmin (elle)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gün: sıcaklık 26 °C, saat 15. Dört geçmiş örnekten en benzerini bulup tüketimini kullan. d = √(ΔT² + ΔSaat²)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(24, 9 → 118 kW): √(4 + 36) = 6.32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(31, 18 → 206 kW): √(25 + 9) = 5.83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(20, 3 → 42 kW): √(36 + 144) = 13.42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(28, 14 → 122 kW): √(4 + 1) = 2.24  ← en yakın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≈ 122 kW (k-en yakın komşu, 6. hafta). Parametre yok; 'model' verinin kendisi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sıcaklık Fahrenheit yazılsaydı sıcaklık farkları 1.8× büyür, saat önemsizleşirdi → ölçekleme gerekli (3. hafta)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hesabın Python'u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293647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2019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np.array([[24, 9], [31, 18], [20, 3], [28, 14]])   # sıcaklık, saat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np.array([118, 206, 42, 122])                       # tüketim (kW)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yeni = np.array([26, 15])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uzakliklar = np.sqrt(((X - yeni) ** 2).sum(axis=1))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print(uzakliklar.round(2))        # [ 6.32  5.83 13.42  2.24]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en_yakin = uzakliklar.argmin()    # 3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print("ABCD"[en_yakin], y[en_yakin])   # D 122</a:t>
            </a:r>
            <a:endParaRPr lang="en-US" sz="1236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Şimdilik sadece okuyun; NumPy 2. haftanın konusu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her satır bir örnek (4×2), y: hedefler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yeni)**2: her elemanın karesi, .sum(axis=1): satır toplamı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argmin: en küçük değerin indeksi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satır kod = elle 4 dakika hesap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MÖ projesinin adımları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algoritma seçmekle değil, problemi ve başarı ölçütünü tanımlamakla başlar: hangi ufuk, hangi çözünürlük, kabul edilebilir hata, tahmin hangi kararı besleyecek? Değerlendirme yetersizse veriye ya da modele geri dönülür.</a:t>
            </a:r>
            <a:endParaRPr lang="en-US" sz="1500" dirty="0"/>
          </a:p>
        </p:txBody>
      </p:sp>
      <p:pic>
        <p:nvPicPr>
          <p:cNvPr id="7" name="Image 0" descr="/home/claude/yz_temelleri/img/mo_is_ak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01381"/>
            <a:ext cx="11094415" cy="308967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doğrusal değil, yinelemelidir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 ayrıntı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tanımı — ne tahmin edilecek, başarı nasıl ölçülecek (ör. MAPE &lt; %5), hangi karar beslenecek?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 toplama — sensör, SCADA, sayaç, açık veri; etiketi kim üretecek; mevsimsellik kapsanıyor mu?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Ön işleme &amp; keşif — eksik/aykırı değer, birim tutarlılığı, zaman hizalama, görselleştirme (3. hafta)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eğitimi — önce basit taban model, sonra uygun algoritma (5-13. hafta)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Değerlendirme — görülmemiş test verisi, problem tanımındaki ölçüt (4. hafta)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Dağıtım &amp; izleme — gömülü/sunucu, gecikme ve bellek, veri kayması, yeniden eğitim (14. hafta)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EEM'de yapay zekâ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EEM, makine öğrenmesi için verimli bir alandır: sensörler ve SCADA sürekli veri üretir, süreçler doğrusal değildir, kararların ekonomik değeri yüksektir. Bir uygulamayı 'problem – yöntem – veri' üçlüsüyle tanımlayabilmek, onu MÖ diline çevirmenin ilk adımıdır.</a:t>
            </a:r>
            <a:endParaRPr lang="en-US" sz="1500" dirty="0"/>
          </a:p>
        </p:txBody>
      </p:sp>
      <p:pic>
        <p:nvPicPr>
          <p:cNvPr id="6" name="Image 0" descr="/home/claude/yz_temelleri/img/eem_uygul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3449" y="2286000"/>
            <a:ext cx="7184797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alandan bir örnek isteyin: girdi verisi ne, tahmin edilecek çıktı ne?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 uygulamaları — örnekler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189687"/>
                <a:gridCol w="3357520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YZ yöntemi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 sistemleri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Saatlik yük tahmini, kararlılık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Regresyon, LSTM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Sayaç, hava, takvim, PMU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Yenilenebilir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Güneş/rüzgâr üretim tahmini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Regresyon, sinir ağı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Işınım, rüzgâr, geçmiş üretim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Elektrik makineleri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Rulman/sargı arızası, kestirimci bakım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CNN, otokodlayıcı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Titreşim, akım imzası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 elektroniği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Konvertör kontrol, MPPT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Pekiştirmeli öğrenme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V/I ölçümleri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Sinyal işleme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EKG/EEG sınıflandırma, gürültü giderme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CNN, RNN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Biyomedikal sinyal, 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Haberleşme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Kanal kestirimi, modülasyon tanıma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 öğrenme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I/Q örnekleri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Gömülü sistemler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kelime, anomali (TinyML)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Küçültülmüş ağ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Mikrofon, IMU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Üretim/test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görsel kusur tespiti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CNN, transfer öğrenme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Kamera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Sınırlar, riskler, etik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güçlüdür ama sihir değildir; sınırlarını bilmeyen mühendis tehlikeli sistemler kurar.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yanlılığı: model veride olanı öğrenir, olmayanı bilemez — yaz verisiyle eğitilen yük modeli kışın başarısız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Açıklanabilirlik: koruma rölesinin 'neden' kestiğini bilmeliyiz; bazen daha az doğru ama açıklanabilir model tercih edilir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Sağlamlık: küçük gürültü → büyük hata (adversarial örnekler); sensör kayması modeli sessizce bozar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kayması: sistem zamanla değişir; izleme ve yeniden eğitim şart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Enerji/maliyet: büyük modeller pahalı; gömülü sistem için küçültme (14. hafta)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Sorumluluk: otonom sistem hata yaparsa kim sorumlu? 'Model öyle söyledi' mazeret değildir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Google Colab'a ilk adım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Tarayıcıda çalışan ücretsiz Python ortamı; kurulum yok; ücretsiz GPU (11. haftadan itibaren)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scikit-learn, PyTorch önceden yüklü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 (.ipynb): kod hücreleri + metin hücreleri — laboratuvar defteri gibi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Enter: hücreyi çalıştır; Ctrl + S: Drive'a kaydet; Share: bağlantı paylaş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Hücreler yazıldıkları değil, ÇALIŞTIRILDIKLARI sırada etki eder → teslimden önce 'Restart and run all'</a:t>
            </a:r>
            <a:endParaRPr lang="en-US" sz="1600" dirty="0"/>
          </a:p>
        </p:txBody>
      </p:sp>
      <p:pic>
        <p:nvPicPr>
          <p:cNvPr id="6" name="Image 0" descr="/home/claude/yz_temelleri/img/colab_ak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81601"/>
            <a:ext cx="11094415" cy="27979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1.8 Colab akışı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kısayolları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267083"/>
                <a:gridCol w="68273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Kısayol / Yol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Hücreyi çalıştır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+ Enter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Üstüne / altına hücre ekle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M, A  /  Ctrl + M,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Hücreyi sil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M, 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 hücresine çevir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M, 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Tümünü çalıştır / ortamı sıfırla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→ Run all / Restart runtime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Kaydet / paylaş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S / Share → bağlantı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 yükle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panel → Files → Upload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hücreler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4010744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373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print("Merhaba Yapay Zekâ Temelleri!")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gerilim = 230          # volt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akim = 2.5             # amper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guc = gerilim * akim   # watt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print("Güç =", guc, "W")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/ 2, 7 // 2, 7 % 2, 2 ** 10)   # 3.5 3 1 1024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print(round(math.sqrt(2), 3))          # 1.414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6" dirty="0"/>
          </a:p>
          <a:p>
            <a:pPr indent="0" marL="0">
              <a:buNone/>
            </a:pPr>
            <a:r>
              <a:rPr lang="en-US" sz="165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print(gerilim + " V")   # bilerek hata: TypeError</a:t>
            </a:r>
            <a:endParaRPr lang="en-US" sz="1656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satırı: #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Değişken: isim = değer; tip otomatik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ekrana yaz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import: kütüphane yükle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mesajının SON satırını okuyun — en önemli beceri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print(gerilim, 'V')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 öğrendik? / Ödev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⊃ MÖ ⊃ DÖ; MÖ = veriden kural çıkarmak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yazmak ölçeklenmez (2^784); genelleme gerekir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= tahmin et, hatayı ölç, parametreyi güncelle döngüsü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 projesi yinelemelidir; zaman veride geçer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EEM'in her alt alanında YZ var; sınırları da var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Ödev: Hafta01 defterini tamamlayın (3 alıştırma), Drive'a kaydedin, bağlantıyı paylaşın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Okuma: Russell &amp; Norvig 1. bölüm veya 'AI Winter' makalesi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Python ile ısınma (listeler, döngüler, fonksiyonlar, NumPy)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 — Yapay Zekâya Giriş</dc:title>
  <dc:subject>PptxGenJS Presentation</dc:subject>
  <dc:creator>PptxGenJS</dc:creator>
  <cp:lastModifiedBy>PptxGenJS</cp:lastModifiedBy>
  <cp:revision>1</cp:revision>
  <dcterms:created xsi:type="dcterms:W3CDTF">2026-09-22T15:39:39Z</dcterms:created>
  <dcterms:modified xsi:type="dcterms:W3CDTF">2026-09-22T15:39:39Z</dcterms:modified>
</cp:coreProperties>
</file>