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Evrişimli Sinir Ağları (CNN)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Konvolüsyon • filtreler • padding/stride • havuzlama • CNN anatomisi • transfer öğrenme • PCB kusur tespiti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işlemeden tanıdığınız konvolüsyon, görüntü için derin öğrenmenin temel yapı taşıdır. Fark: filtreleri biz tasarlamıyoruz, ağ veriden öğreniyor.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MLP görüntüde neden yetersiz; konvolüsyon (elle, FIR bağlantısı); padding/stride/çıktı boyutu; havuzlama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CNN anatomisi ve parametre; öğrenilen filtreler; klasik mimariler; veri artırma; transfer öğrenme; 1-B CNN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PCB kusur verisinde CNN vs MLP; filtre/harita görselleştirme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 konvolüsyonu elle hesaplamak; çıktı boyutu formülü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filtre ↔ konvolüsyon katmanı; 'öğrenilen filtre'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Havuzlama: ne, neden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parametre sayısı; MLP ile karşılaştırma (yerellik, paylaşım)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CNN kurmak, eğitmek, filtreleri görmek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öğrenme ne zaman/nasıl; Conv1d sinyaller için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Görüntüde MLP neden yetersiz?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Düzleştirme uzamsal yapıyı atar (1. ve 500. piksel eşit uzak); 1 piksel kayma 784 girdiyi değiştirir; 224×224 RGB ilk katman 38M ağırlık. Konvolüsyon üç fikirle çözer.</a:t>
            </a:r>
            <a:endParaRPr lang="en-US" sz="1500" dirty="0"/>
          </a:p>
        </p:txBody>
      </p:sp>
      <p:pic>
        <p:nvPicPr>
          <p:cNvPr id="6" name="Image 0" descr="/home/claude/yz_temelleri/img/parametre_paylasi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03820"/>
            <a:ext cx="11094415" cy="32848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Yerellik + ağırlık paylaşımı + hiyerarşi → 1800 kat az parametre, öteleme değişmezliği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Konvolüsyon (çapraz korelasyon)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görüntü işlemede çekirdek elle tasarlanır (Sobel, Gauss); CNN'de geri yayılımla öğrenilir — 7. haftanın elle özellik çıkarımının otomatik hâli. Bir filtre = bir desen dedektörü.</a:t>
            </a:r>
            <a:endParaRPr lang="en-US" sz="1500" dirty="0"/>
          </a:p>
        </p:txBody>
      </p:sp>
      <p:pic>
        <p:nvPicPr>
          <p:cNvPr id="6" name="Image 0" descr="/home/claude/yz_temelleri/img/konvolusyon_e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73" y="2286000"/>
            <a:ext cx="10234749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kayar, eleman çarpımı toplanır. 1-B: FIR filtresi y[n] = Σ h[k] x[n−k]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12.1 — Konvolüsyon elle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ikili görüntü, K = [[1,0,1],[0,1,0],[1,0,1]], padding 0, stride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üst pencere [[1,1,1],[0,1,1],[0,0,1]] · K = 1+0+1+0+1+0+0+0+1 = 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boyutu: (5 − 3)/1 + 1 = 3 → 3×3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çıktı: [[4,3,4],[2,4,3],[2,3,4]]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bir 'X' arar: en yüksek yanıtlar X-benzeri konumlarda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correlate2d / torch F.conv2d aynı sonucu verir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Konvolüsyon hiperparametreleri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3486816"/>
                <a:gridCol w="53887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Kavram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Çekirdek 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3, 5, 7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k: geniş bağlam, çok parametre; modern: 3×3 yığını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Padding 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Kenara sıfır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(k−1)/2 boyutu korur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2 boyutu yarılar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sayısı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→ 32 → 64 artar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boyutu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⌊(n + 2p − k)/s⌋ + 1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k·k·C_in·C_out + C_out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Görüntü boyutundan BAĞIMSIZ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12.2 — Boyut ve parametre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32×32×1 → Conv 16@3×3 p1 → Pool 2 → Conv 32@3×3 p1 → Pool 2 → Flatten → 64 → 4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32 → 16×32×32; param 3·3·1·16 + 16 = 160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→ 16×16×16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Conv2: 32×16×16; param 3·3·16·32 + 32 = 4640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→ 32×8×8 = 2048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2048→64: 131 136; Linear 64→4: 260 → toplam 136 356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Konvolüsyon toplam 4800 = tam bağlı 1024→256'nın %2'si; parametre yükü ilk Linear'da → modern: global average pool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tasarlanmış filtreler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/home/claude/yz_temelleri/img/filtre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9795"/>
            <a:ext cx="11094415" cy="25070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Özdeşlik, Sobel yatay/dikey kenar, bulanıklaştırma, keskinleştirme — CNN bunları ve daha iyilerini öğrenir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Havuzlama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ağlar bazen stride-2 konvolüsyon kullanır. Ağın sonunda global average pooling her haritayı tek sayıya indirir → büyük tam bağlı katmana gerek kalmaz.</a:t>
            </a:r>
            <a:endParaRPr lang="en-US" sz="1500" dirty="0"/>
          </a:p>
        </p:txBody>
      </p:sp>
      <p:pic>
        <p:nvPicPr>
          <p:cNvPr id="6" name="Image 0" descr="/home/claude/yz_temelleri/img/havuzl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661" y="2286000"/>
            <a:ext cx="10202373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max / ortalama → boyut yarıya; parametre yok; küçük ötelemeye dayanıklı; alıcı alan büyür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CNN'in anatomisi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1: kenar/geçiş; katman 2: köşe/doku; katman 3: parça (delik, kesişim); sonra nesne. 9. haftadaki 'derinlik = hiyerarşi' iddiasının somut hâli. BatchNorm2d conv sonrası, dropout tam bağlıda.</a:t>
            </a:r>
            <a:endParaRPr lang="en-US" sz="1500" dirty="0"/>
          </a:p>
        </p:txBody>
      </p:sp>
      <p:pic>
        <p:nvPicPr>
          <p:cNvPr id="6" name="Image 0" descr="/home/claude/yz_temelleri/img/cnn_mim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82994"/>
            <a:ext cx="11094415" cy="29264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[Conv → ReLU → Pool] tekrarı + tam bağlı; uzam küçülür (32→16→8), kanal artar (16→32): 'nerede' → 'ne'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Öğrenilen filtreler (PCB, 1. katman)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5" name="Image 0" descr="/home/claude/yz_temelleri/img/ogrenilen_filtre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82011"/>
            <a:ext cx="11094415" cy="31225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adet 3×3: kenar ve köşe dedektörleri — kimse tasarlamadı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haritaları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/home/claude/yz_temelleri/img/ozellik_harital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23407"/>
            <a:ext cx="11094415" cy="283978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görüntü, 16 harita: kimi yatay yolu, kimi delikleri, kimi kenarları vurgular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verisi: pcb_kusur.npz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Sentetik: rastgele yol konumu, kalınlık, gürültü, yansıma. Gerçek AOI verisinden temiz ve dengeli; ama CNN'in ne öğrendiğini görmek için ideal. Aynı defter bayrakla MNIST/CIFAR-10'a geçer.</a:t>
            </a:r>
            <a:endParaRPr lang="en-US" sz="1500" dirty="0"/>
          </a:p>
        </p:txBody>
      </p:sp>
      <p:pic>
        <p:nvPicPr>
          <p:cNvPr id="6" name="Image 0" descr="/home/claude/yz_temelleri/img/pcb_ornek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5249" y="2286000"/>
            <a:ext cx="6641197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× 32×32 gri; normal / kopuk yol / kısa devre / eksik delik; %80/20 hazır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 MLP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kısa devre köprüsünü (1 piksel ince, rastgele konumda) zor öğrenir: her konum ayrı örüntü. CNN aynı filtreyi her yerde uygular.</a:t>
            </a:r>
            <a:endParaRPr lang="en-US" sz="1500" dirty="0"/>
          </a:p>
        </p:txBody>
      </p:sp>
      <p:pic>
        <p:nvPicPr>
          <p:cNvPr id="6" name="Image 0" descr="/home/claude/yz_temelleri/img/cnn_vs_m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9928" y="2286000"/>
            <a:ext cx="5831840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 parametreyle daha yüksek doğruluk ve daha hızlı öğrenme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verisi ve CNN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172847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 = np.load("pcb_kusur.npz"); siniflar = list(veri["siniflar"])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 = torch.tensor(veri["X_train"])[:, None]      # (N, 1, 32, 32): kanal boyutu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 = torch.tensor(veri["y_train"]).long()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 = nn.Sequential(nn.Conv2d(1, 16, 3, padding=1), nn.BatchNorm2d(16), nn.ReLU(), nn.MaxPool2d(2),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nn.Conv2d(16, 32, 3, padding=1), nn.BatchNorm2d(32), nn.ReLU(), nn.MaxPool2d(2),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nn.Flatten(), nn.Dropout(0.3), nn.Linear(32*8*8, 64), nn.ReLU(), nn.Linear(64, 4))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eğitim döngüsü 10-11. hafta ile aynı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girdisi (N, C, H, W)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BatchNorm2d conv sonrası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tam bağlı öncesi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 değişmedi: yalnızca model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artırma (görüntü)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Etiketi değiştirmeyen dönüşümler: çevirme, ±10° döndürme, kaydırma, parlaklık, kırpma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PCB: yatay/dikey çevirme güvenli; rakam: yatay çevirme ZARARLI (6↔9)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torchvision.transforms ile eğitimde rastgele; her epoch 'yeni' görüntüler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veride en etkili düzenlileştirici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Doğrulama/test'e uygulanmaz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öğrenme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Birkaç yüz görüntüyle sıfırdan CNN çoğu zaman başarısız. Önceden eğitilmiş konvolüsyonlar genel kenar/doku/şekil dedektörleridir; PCB'de de işe yarar. Endüstriyel görüntü uygulamalarının standart yolu.</a:t>
            </a:r>
            <a:endParaRPr lang="en-US" sz="1500" dirty="0"/>
          </a:p>
        </p:txBody>
      </p:sp>
      <p:pic>
        <p:nvPicPr>
          <p:cNvPr id="6" name="Image 0" descr="/home/claude/yz_temelleri/img/transfer_ogren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89312"/>
            <a:ext cx="11094415" cy="29138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ImageNet'te eğitilmiş ResNet → konvolüsyonları dondur → son katmanı değiştir → az veriyle eğit → gerekirse ince ayar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öğrenme iskeleti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136525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09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torchvision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torchvision.models.resnet18(weights="IMAGENET1K_V1")   # önceden eğitilmiş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model.parameters(): p.requires_grad = False             # dondur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model.fc = nn.Linear(model.fc.in_features, 4)                   # 1000 -&gt; 4 sınıf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Girdi: 3 kanal, 224×224 (ya da en az 64×64), ImageNet ortalama/std ile normalize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weights=: ağırlıkları indir (Colab)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requires_grad=False: dondur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fc eğitilir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 ayar: düşük η ile üst katmanları aç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Kilometre taşı mimariler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1267933"/>
                <a:gridCol w="1584916"/>
                <a:gridCol w="1584916"/>
                <a:gridCol w="443776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Mimari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Yıl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Katman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Yenilik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LeNet-5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pratik CNN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ReLU, dropout, GPU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 yığını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18-152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11-60M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Artık bağlantı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Gömülü cihaz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86M+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Dikkat (transformer)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konvolüsyon: sinyaller için CNN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Conv1d: çekirdek = FIR filtresi; ağ arıza darbelerini yakalayan filtreleri öğrenir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kurtosis/bant enerjisi (7. hafta) yerine ham sinyal → Conv1d(1,16,k=16) → Pool → Conv1d(16,32,k=8) → global pool → Linear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haftada zaman serisi; projelerde EKG, titreşim, güç kalitesi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Defter sonunda rulman verisiyle örnek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sorular / Ödev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64×64, k=5, p=0, s=2 → çıktı? p=2?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3×224×224, 64 adet 7×7: parametre? 448×448'de?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 parametresi? Neden öteleme dayanıklı?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dikey çekirdek dikey yolda nerede büyük?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Rakamda yatay çevirme neden zararlı?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6: PCB'de MLP / CNN / BN+dropout+artırma CNN; filtre ve haritalar; gürültü/kaydırma sağlamlığı; Colab MNIST; bonus resnet18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zaman serileri — pencereleme, LSTM, saatlik tüketim tahmini; proje ara teslimi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12 — Evrişimli Sinir Ağları (CNN)</dc:title>
  <dc:subject>PptxGenJS Presentation</dc:subject>
  <dc:creator>PptxGenJS</dc:creator>
  <cp:lastModifiedBy>PptxGenJS</cp:lastModifiedBy>
  <cp:revision>1</cp:revision>
  <dcterms:created xsi:type="dcterms:W3CDTF">2026-09-22T17:09:27Z</dcterms:created>
  <dcterms:modified xsi:type="dcterms:W3CDTF">2026-09-22T17:09:27Z</dcterms:modified>
</cp:coreProperties>
</file>