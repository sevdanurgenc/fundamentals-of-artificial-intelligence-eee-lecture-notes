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0"/>
            <a:ext cx="1109441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EEM'de YZ Uygulamaları, Gömülü YZ, LLM'ler, Güvenilirlik ve Etik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918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14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 haritası • MLOps • TinyML ve kuantizasyon • transformer/LLM • kalibrasyon, kayma, düşmanca örnek • adillik, KVKK, AB YZ Yasası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Bugünün planı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haftalık alet çantasını gerçek dünyaya taşıyoruz: modeli mikrodenetleyiciye sığdırmak, LLM'leri doğru kullanmak, güvenilirliği ölçmek ve sorumluluğu üstlenmek.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86000"/>
            <a:ext cx="1109441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 1 — Uygulama haritası; yaşam döngüsü (dağıtım, izleme); TinyML: bütçe, kuantizasyon, budama, damıtma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 2 — LLM: token, öz-dikkat, transformer, eğitim aşamaları, kullanım ilkeleri; güvenilirlik: kalibrasyon, belirsizlik, kayma, FGSM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 3 — Uygulama: motor modelini int8 + C dizisi + ONNX; dikkat elle; kalibrasyon/kayma/FGSM/adillik; etik ve düzenleme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Kazanımlar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EEM alt alanı ↔ YZ aracı eşlemesi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Dağıtım biçimleri, kayma, izleme, yeniden eğitim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MCU bütçesi; int8 kuantizasyon elle; budama, damıtma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Öz-dikkat elle; LLM eğitimi ve sınırları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Kalibrasyon (diyagram, ECE, Brier); belirsizlik; FGSM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 grup raporu, KVKK, AB YZ Yasası, model kartı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EEM'de YZ: uygulama haritası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Ortak örüntü: sensör/sayaç verisi → özellik ya da ham sinyal → model → karar → izleme. Farklı olan alan bilgisi ve kısıtlar (gecikme, enerji, güvenlik).</a:t>
            </a:r>
            <a:endParaRPr lang="en-US" sz="1500" dirty="0"/>
          </a:p>
        </p:txBody>
      </p:sp>
      <p:pic>
        <p:nvPicPr>
          <p:cNvPr id="6" name="Image 0" descr="/home/claude/yz_temelleri/img/uygulama_haritas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9816" y="2286000"/>
            <a:ext cx="7312062" cy="35204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8064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kutuda dersin bir haftası var: tahmin (5, 13), sınıflama (6, 7), kümeleme (8), CNN (12), LSTM (13)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uygulamalar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2173133"/>
                <a:gridCol w="2173133"/>
                <a:gridCol w="2630635"/>
                <a:gridCol w="1944382"/>
                <a:gridCol w="2173133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Uygulama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Yöntem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Ölçüt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Dikkat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Gün öncesi yük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yük, sıcaklık, takvim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gecikme + ridge/LSTM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MAPE, beceri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zaman bölmesi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Rulman arızası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titreşim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özellik + orman / 1-B CNN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makro-F1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makine sızıntısı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PCB kusur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görüntü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+ artırma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sınıf başına recall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 kusur örneği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Batarya SoH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çevrim eğrileri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regresyon / LSTM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yeni kimya → kayma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Modülasyon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IQ örnekleri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1-B CNN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doğruluk vs SNR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kanal çeşitliliği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Sayaç profilleri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s profil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 / PCA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silhouette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gizlilik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 ömrü: dağıtım → izleme → yeniden eğitim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Eğitim biter, iş başlar. Model üretimde sessizce bozulur: yaz gelir, yeni motor tipi eklenir, sensör yaşlanır. İzleme = girdi dağılımı + tahmin dağılımı + gecikmeli etiketlerle performans.</a:t>
            </a:r>
            <a:endParaRPr lang="en-US" sz="1500" dirty="0"/>
          </a:p>
        </p:txBody>
      </p:sp>
      <p:pic>
        <p:nvPicPr>
          <p:cNvPr id="6" name="Image 0" descr="/home/claude/yz_temelleri/img/yasam_dongus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452754"/>
            <a:ext cx="11094415" cy="31869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8064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Bulut / edge PC / MCU: gecikme, bant genişliği, enerji, gizlilik dengesi. Kayma: covariate (girdi) ve concept (ilişki)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TinyML: mikrodenetleyici bütçesi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motor_ariza için 5→8→1 MLP: 57 parametre, 228 bayt. Şekil: daha büyük ağ AUC'ye katkı yapmıyor.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65960"/>
            <a:ext cx="566928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Cortex-M4: 100–200 MHz, 256 KB–1 MB flash, 64–256 KB RAM, pil ile yıllar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Üç bütçe: bellek (param → flash, aktivasyon → RAM), hesap (MAC → gecikme), enerji (pJ/MAC + uyanma)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Dört teknik: küçük mimari · int8 kuantizasyon (4×) · budama (%50–90 sıfır) · damıtma (öğretmen → öğrenci)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Dağıtım: ONNX (onnxruntime), TFLite Micro, CMSIS-NN — ya da ağırlıkları C dizisine dök + 20 satır C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Asıl kazanç: ham veriyi radyoyla göndermek yerine yerel karar (1000× enerji)</a:t>
            </a:r>
            <a:endParaRPr lang="en-US" sz="1300" dirty="0"/>
          </a:p>
        </p:txBody>
      </p:sp>
      <p:pic>
        <p:nvPicPr>
          <p:cNvPr id="7" name="Image 0" descr="/home/claude/yz_temelleri/img/tinyml_boy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2572148"/>
            <a:ext cx="5242255" cy="303958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14.1 — int8 kuantizasyon elle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4415" cy="4937760"/>
          </a:xfrm>
          <a:prstGeom prst="rect">
            <a:avLst/>
          </a:prstGeom>
          <a:solidFill>
            <a:srgbClr val="FBF6EE"/>
          </a:solidFill>
          <a:ln w="12700">
            <a:solidFill>
              <a:srgbClr val="E0C9A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46304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= [−0.62, −0.10, 0.05, 0.31, 0.88] → uint8 (asimetrik)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6400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(max − min)/255 = 1.50/255 = 0.00588; z = round(0.62/s) = 105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= round(w/s) + z = [0, 88, 114, 158, 255]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ŵ = (q − z)·s → hata ≤ s/2 = 0.0029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B → 5 B (+ s, z); büyük katmanda ≈ 4×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Uç değer s'yi büyütür → kanal başına ölçek; ağırlıkta simetrik int8, aktivasyonda asimetrik</a:t>
            </a:r>
            <a:endParaRPr lang="en-US" sz="1700" dirty="0"/>
          </a:p>
        </p:txBody>
      </p:sp>
      <p:pic>
        <p:nvPicPr>
          <p:cNvPr id="8" name="Image 0" descr="/home/claude/yz_temelleri/img/kuantizasy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3657738"/>
            <a:ext cx="3870655" cy="10055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14.2 — MCU bütçesi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4415" cy="4937760"/>
          </a:xfrm>
          <a:prstGeom prst="rect">
            <a:avLst/>
          </a:prstGeom>
          <a:solidFill>
            <a:srgbClr val="FBF6EE"/>
          </a:solidFill>
          <a:ln w="12700">
            <a:solidFill>
              <a:srgbClr val="E0C9A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46304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hafta CNN (136 k param, 2.4 M MAC) vs motor MLP (57 param, 48 MAC); 100 MHz, 1 MAC/çevrim, 5 pJ/MAC + 2 µJ uyanma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1054577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int8: CNN 133 KB (float32 532 KB sığmaz), MLP 57 B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Gecikme: CNN 24 ms, MLP 0.5 µs (pratikte 2–5×)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Enerji/çıkarım: CNN 14 µJ, MLP ≈ 2 µJ (uyanma baskın)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 mAh·3 V = 10.8 kJ; 1 çıkarım/s → CNN 24 yıl: çıkarım pil ömrünü belirlemez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Radyo paketi 50–100 mJ → yerel karar + yalnızca alarm gönder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Küçültme teknikleri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2542470"/>
                <a:gridCol w="3004737"/>
                <a:gridCol w="2773604"/>
                <a:gridCol w="277360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Teknik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Kazanç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Bedel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 zaman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Küçük mimari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 bütçede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Kapasite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İlk adım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4× bellek, 2–4× hız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%1 doğruluk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 MCU dağıtımı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Budama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%50–90 az ağırlık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Seyrek depolama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Bellek dar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Damıtma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Küçük model, büyük bilgi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Ek eğitim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Öğretmen varsa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Özellik + klasik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Ağ gerekmeyebilir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emeği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 hafta yaklaşımı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Büyük dil modelleri nasıl çalışır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Girdi: token (kelime parçası); çıktı: ~100 k token üzerinde softmax; kayıp: CE; hedef: sonraki token — 11. haftanın sınıflandırıcısı, ölçek 10⁹–10¹² parametre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çekirdeği: öz-dikkat  Attention(Q,K,V) = softmax(QKᵀ/√d)·V — her token diğerlerine ne kadar bakacağını hesaplar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RNN'e karşı: paralel, uzak bağımlılık doğrudan; bedel: uzunluğun karesi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Aşamalar: ön eğitim → talimat ayarı (SFT) → RLHF → istem / RAG / araç çağrısı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14.3 — Öz-dikkat elle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4415" cy="4937760"/>
          </a:xfrm>
          <a:prstGeom prst="rect">
            <a:avLst/>
          </a:prstGeom>
          <a:solidFill>
            <a:srgbClr val="FBF6EE"/>
          </a:solidFill>
          <a:ln w="12700">
            <a:solidFill>
              <a:srgbClr val="E0C9A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46304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= K = [[1,0],[0,1],[1,1]], V = [[1,0],[0,1],[.5,.5]], d = 2; 3. token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6400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Skorlar: [1, 1, 2]/√2 = [0.707, 0.707, 1.414]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Softmax: [0.248, 0.248, 0.503]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Çıktı: 0.248·[1,0] + 0.248·[0,1] + 0.503·[.5,.5] = [0.50, 0.50]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√d: skorlar büyüyüp softmax 'tek sıcak'a dönmesin (gradyan)</a:t>
            </a:r>
            <a:endParaRPr lang="en-US" sz="1700" dirty="0"/>
          </a:p>
        </p:txBody>
      </p:sp>
      <p:pic>
        <p:nvPicPr>
          <p:cNvPr id="8" name="Image 0" descr="/home/claude/yz_temelleri/img/dikk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3541120"/>
            <a:ext cx="3870655" cy="1238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boru hattı ve mühendis için kullanım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verimli: kod taslağı/hata ayıklama, dokümantasyon, veri temizleme betikleri, literatür özeti. Her sayısal ve teknik iddia bağımsız doğrulanır.</a:t>
            </a:r>
            <a:endParaRPr lang="en-US" sz="1500" dirty="0"/>
          </a:p>
        </p:txBody>
      </p:sp>
      <p:pic>
        <p:nvPicPr>
          <p:cNvPr id="6" name="Image 0" descr="/home/claude/yz_temelleri/img/llm_bor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355500"/>
            <a:ext cx="11094415" cy="33814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8064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Doğrulayarak kullan (halüsinasyon); gizlilik (KVKK, şirket verisi); açık modeller yerel; enerji maliyetini bil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Güvenilirlik I — kalibrasyon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'0.8' dediklerinin %80'i arızalanıyor mu? Güvenilirlik diyagramı; ECE = Σ (nₖ/N)|sıklık − tahmin|; Brier = ort (p − y)²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Sinir ağı / boosting sık aşırı güvenli; lojistik doğal kalibre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Düzeltme: Platt (lojistik), izotonik — doğrulama verisiyle (CalibratedClassifierCV)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haftanın maliyet eşiği kalibrasyon ister: olasılık yanlışsa eşik yanlış</a:t>
            </a:r>
            <a:endParaRPr lang="en-US" sz="1300" dirty="0"/>
          </a:p>
        </p:txBody>
      </p:sp>
      <p:pic>
        <p:nvPicPr>
          <p:cNvPr id="6" name="Image 0" descr="/home/claude/yz_temelleri/img/kalibrasy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309" y="2706624"/>
            <a:ext cx="9175077" cy="323697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14.4 — ECE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4415" cy="4937760"/>
          </a:xfrm>
          <a:prstGeom prst="rect">
            <a:avLst/>
          </a:prstGeom>
          <a:solidFill>
            <a:srgbClr val="FBF6EE"/>
          </a:solidFill>
          <a:ln w="12700">
            <a:solidFill>
              <a:srgbClr val="E0C9A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46304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kutu: (400, 0.05, 0.03), (300, 0.25, 0.20), (200, 0.55, 0.65), (100, 0.85, 0.70)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1054577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 = (400·0.02 + 300·0.05 + 200·0.10 + 100·0.15)/1000 = 0.058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Düşük kutular hafif aşırı güvenli; orta az güvenli; yüksek belirgin aşırı güvenli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Eşik 0.3 civarındaysa kutu 2–3 sınırı kararı etkiler → izotonik düzeltme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Güvenilirlik II — belirsizlik, kayma, düşmanca örnek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Aleatorik (veri gürültüsü) vs epistemik (az veri): topluluk, MC dropout, orman varyansı, konformal aralık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OOD: eğitim dağılımına uzaklık (z-skor, Mahalanobis) → 'bilmiyorum' de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Kayma: sıcaklık +12…20 °C → AUC aynı kalır ama sabit eşikte F1 0.63 → 0.39, alarm oranı %15 → %47 (şekil)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FGSM: x + ε·sign(∇ₓL) — görünmez bozulma, doğruluk çöker; savunma kısmi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Emniyet-kritik: YZ, klasik güvenlik katmanının (sınır kontrolü, fizik, insan onayı) ARKASINDA</a:t>
            </a:r>
            <a:endParaRPr lang="en-US" sz="1300" dirty="0"/>
          </a:p>
        </p:txBody>
      </p:sp>
      <p:pic>
        <p:nvPicPr>
          <p:cNvPr id="6" name="Image 0" descr="/home/claude/yz_temelleri/img/kay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9586" y="3017520"/>
            <a:ext cx="9092523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Düşmanca örnek: FGSM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Kamera denetimi, ses komutu, biyometri için gerçek tehdit. Düşmanca eğitim, ön işleme, topluluk — kısmi savunma.</a:t>
            </a:r>
            <a:endParaRPr lang="en-US" sz="1500" dirty="0"/>
          </a:p>
        </p:txBody>
      </p:sp>
      <p:pic>
        <p:nvPicPr>
          <p:cNvPr id="6" name="Image 0" descr="/home/claude/yz_temelleri/img/adversari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320601"/>
            <a:ext cx="11094415" cy="313119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8064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Rakam MLP'si: ε = 0.1'de görüntü aynı görünür, tahmin değişir; ε ile doğruluk çöker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Etik, adillik, gizlilik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56692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Adillik: alt grup raporu (grup başına TPR/FPR, MAE) — şekil: aynı eşik, motor tipine göre farklı hata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Açıklanabilirlik: ağaç önemi, permütasyon önemi, SHAP, saliency — 'model öyle dedi' cevap değil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Gizlilik: sayaç verisi yaşam tarzını açığa çıkarır; KVKK/GDPR; anonimleştirme, toplulaştırma, federated learning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Sürdürülebilirlik: eğitim yüz GWh; çıkarım ölçekle büyür — enerji mühendisi iki taraftadır</a:t>
            </a:r>
            <a:endParaRPr lang="en-US" sz="1300" dirty="0"/>
          </a:p>
        </p:txBody>
      </p:sp>
      <p:pic>
        <p:nvPicPr>
          <p:cNvPr id="6" name="Image 0" descr="/home/claude/yz_temelleri/img/adilli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2206224"/>
            <a:ext cx="5242255" cy="308563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Düzenleme: AB YZ Yasası risk katmanları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Fonksiyonel güvenlik (IEC 61508, ISO 26262) ile öğrenen bileşenlerin bağdaştırılması aktif bir alan; bugün için: YZ önerir, deterministik katman korur.</a:t>
            </a:r>
            <a:endParaRPr lang="en-US" sz="1500" dirty="0"/>
          </a:p>
        </p:txBody>
      </p:sp>
      <p:pic>
        <p:nvPicPr>
          <p:cNvPr id="6" name="Image 0" descr="/home/claude/yz_temelleri/img/risk_piramid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2413" y="2286000"/>
            <a:ext cx="9406869" cy="35204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8064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Kritik altyapı (şebeke), tıbbi cihaz → yüksek risk: risk yönetimi, veri yönetişimi, dokümantasyon, insan gözetimi, sağlamlık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Sorumlu YZ belgeleri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2542470"/>
                <a:gridCol w="4622673"/>
                <a:gridCol w="39292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Belge / ilke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İçerik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EEM karşılığı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kartı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Amaç, veri, metrikler (alt grup), sınırlar, riskler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Rulman modeli: geçerli rpm aralığı, zayıf sınıf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 sayfası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Kaynak, koşullar, eksikler, lisans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Sensör, örnekleme hızı, etiketleme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İnsan gözetimi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Öner → onayla; geçersiz kılma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Bakım mühendisi onayı; röle klasik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Kayıt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Tahmin + girdi + sürüm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Hangi sürüm hangi kararı verdi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Defter: ağırlıkları C dizisine dökmek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7498080" cy="1645920"/>
          </a:xfrm>
          <a:prstGeom prst="rect">
            <a:avLst/>
          </a:prstGeom>
          <a:solidFill>
            <a:srgbClr val="F3F3F1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4173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 = model[0].weight.detach().numpy(); b1 = model[0].bias.detach().numpy()   # 5→8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 = np.abs(W1).max()/127; q1 = np.round(W1/s1).astype(np.int8)           # simetrik int8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open("motor_mlp.h", "w") as f: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f.write(f"#define S1 {s1:.8f}f\n static const int8_t W1[8][5] = {{")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f.write(",".join("{" + ",".join(map(str, r)) + "}" for r in q1) + "};\n")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 tarafı: y = relu( S1 * (W1[i]·x_int) + b1[i] ) ... 20 satır, malloc yok, float yok (isteğe bağlı)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412480" y="1280160"/>
            <a:ext cx="323057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ile int8 çıkarım: doğruluk float32 ile aynı mı?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export + onnxruntime: gecikme ölçümü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Budama: en küçük %70 ağırlığı sıfırla → AUC?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Sınıf içi sorular / Ödev 8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Radyo ile ham titreşim göndermek mi, MCU'da karar vermek mi? Enerji ve gizlilik açısından.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LLM'nin verdiği IEC standart numarasını nasıl doğrularsınız?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Modeliniz %95 doğru ama kalibrasyonu kötü: hangi kararlar zarar görür?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 grup raporunda bir grup TPR 0.5 ise ne yaparsınız?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Ödev 8: model kartı + kalibrasyon/ECE + kayma senaryosu + (MCU ise) bütçe + LLM doğrulama kaydı — final projesiyle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Gelecek hafta: proje sunumları, dönem özeti, final hazırlığı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Hafta 14 — EEM'de YZ Uygulamaları, Gömülü YZ, LLM'ler, Güvenilirlik ve Etik</dc:title>
  <dc:subject>PptxGenJS Presentation</dc:subject>
  <dc:creator>PptxGenJS</dc:creator>
  <cp:lastModifiedBy>PptxGenJS</cp:lastModifiedBy>
  <cp:revision>1</cp:revision>
  <dcterms:created xsi:type="dcterms:W3CDTF">2026-09-22T17:49:20Z</dcterms:created>
  <dcterms:modified xsi:type="dcterms:W3CDTF">2026-09-22T17:49:20Z</dcterms:modified>
</cp:coreProperties>
</file>