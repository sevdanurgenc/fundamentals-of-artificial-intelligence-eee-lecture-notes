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0"/>
            <a:ext cx="110944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ile Isınma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918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2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Değişkenler • listeler • döngüler • fonksiyonlar • NumPy • ilk grafik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Bugünün planı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hafta programlama deneyimi olmayanlar için sıfırdan başlıyoruz. Amaç Python uzmanı olmak değil; 3. haftadan itibaren veriyle çalışabilecek kadar dili ve NumPy'ı tanımak.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86000"/>
            <a:ext cx="1109441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 1 — Veri tipleri, listeler, sözlükler; if / for / while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 2 — Fonksiyonlar, NumPy dizileri, vektörel işlemler, matris işlemleri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 3 — Uygulama: sinyal üretme, RMS hesabı, direnç fonksiyonları, ilk grafik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Kazanımlar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veri tiplerini (int, float, str, bool, list, tuple, dict) ayırt etmek ve uygun yerde kullanmak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for / while ile basit algoritmalar yazmak; girinti kuralını uygulamak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Parametre alan ve değer döndüren fonksiyon tanımlamak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dizileri oluşturmak; ortalama, std gibi işlemleri döngüsüz yapmak; shape kavramı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Matris çarpımı ve lineer denklem çözmek (A x = b)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ile eksen etiketli, açıklamalı bir sinyal grafiği çizmek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Python? (MATLAB bilenler için)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Python; okunabilir sözdizimi, devasa kütüphane ekosistemi (NumPy, pandas, scikit-learn, PyTorch) ve etkileşimli çalışma (Colab) sayesinde YZ'nin fiili standart dilidir. Kendisi yavaştır ama ağır sayısal işler C/CUDA ile yazılmış kütüphanelere devredilir: Python bir 'yapıştırıcı'dır.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603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sık karıştırılan iki fark: indeks 0'dan başlar; * eleman bazlı, @ matris çarpımıdır.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108960"/>
          <a:ext cx="11094415" cy="914400"/>
        </p:xfrm>
        <a:graphic>
          <a:graphicData uri="http://schemas.openxmlformats.org/drawingml/2006/table">
            <a:tbl>
              <a:tblPr/>
              <a:tblGrid>
                <a:gridCol w="3413666"/>
                <a:gridCol w="3413666"/>
                <a:gridCol w="4267083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Özellik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MATLAB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+ NumPy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İndeks başlangıcı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Dizi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 2 3]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np.array([1, 2, 3])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Eleman bazlı çarpma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.* 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* 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Matris çarpımı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* 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@ 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Transpoz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A'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Ortalama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mean(x)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x.mean()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Dizi boyutu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size(A)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A.shape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Ücret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Lisanslı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Ücretsiz, açık kaynak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veri tipleri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belirtmeden '=' ile isim verilir; tip değerden anlaşılır (dinamik tipleme). Ama tipler önemlidir: 7/2 her zaman 3.5'tir, metin ile sayı toplanamaz, liste ile sayı çarpılamaz. type() ile öğrenin.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86000"/>
          <a:ext cx="11094415" cy="914400"/>
        </p:xfrm>
        <a:graphic>
          <a:graphicData uri="http://schemas.openxmlformats.org/drawingml/2006/table">
            <a:tbl>
              <a:tblPr/>
              <a:tblGrid>
                <a:gridCol w="1406334"/>
                <a:gridCol w="3125187"/>
                <a:gridCol w="4062744"/>
                <a:gridCol w="250015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Açıklama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Örnek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Kontrol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 sayı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= 50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type(n)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Ondalıklı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 = 230.0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type(v)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Metin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 = 'trafo'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len(ad) → 5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Mantıksal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acik = True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acik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Sıralı, değiştirilebilir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olcum = [3.1, 2.9, 3.0]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olcum[0] → 3.1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tuple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Sıralı, değiştirilemez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boyut = (28, 28)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boyut[1] → 28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Anahtar → değer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= {'R1': 100, 'R2': 220}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r['R2'] → 220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Değişkenler, f-string, liste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7498080" cy="3596164"/>
          </a:xfrm>
          <a:prstGeom prst="rect">
            <a:avLst/>
          </a:prstGeom>
          <a:solidFill>
            <a:srgbClr val="F3F3F1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417320"/>
            <a:ext cx="7132320" cy="3321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62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frekans = 50</a:t>
            </a:r>
            <a:endParaRPr lang="en-US" sz="1462" dirty="0"/>
          </a:p>
          <a:p>
            <a:pPr indent="0" marL="0">
              <a:buNone/>
            </a:pPr>
            <a:r>
              <a:rPr lang="en-US" sz="1462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periyot = 1 / frekans</a:t>
            </a:r>
            <a:endParaRPr lang="en-US" sz="1462" dirty="0"/>
          </a:p>
          <a:p>
            <a:pPr indent="0" marL="0">
              <a:buNone/>
            </a:pPr>
            <a:r>
              <a:rPr lang="en-US" sz="1462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print(f"Periyot {periyot*1000:.1f} ms")    # Periyot 20.0 ms</a:t>
            </a:r>
            <a:endParaRPr lang="en-US" sz="1462" dirty="0"/>
          </a:p>
          <a:p>
            <a:pPr indent="0" marL="0">
              <a:buNone/>
            </a:pPr>
            <a:r>
              <a:rPr lang="en-US" sz="1462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62" dirty="0"/>
          </a:p>
          <a:p>
            <a:pPr indent="0" marL="0">
              <a:buNone/>
            </a:pPr>
            <a:r>
              <a:rPr lang="en-US" sz="1462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olcumler = [229.8, 231.2, 230.5, 228.9, 230.1]</a:t>
            </a:r>
            <a:endParaRPr lang="en-US" sz="1462" dirty="0"/>
          </a:p>
          <a:p>
            <a:pPr indent="0" marL="0">
              <a:buNone/>
            </a:pPr>
            <a:r>
              <a:rPr lang="en-US" sz="1462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print(olcumler[0], olcumler[-1])          # 229.8 230.1</a:t>
            </a:r>
            <a:endParaRPr lang="en-US" sz="1462" dirty="0"/>
          </a:p>
          <a:p>
            <a:pPr indent="0" marL="0">
              <a:buNone/>
            </a:pPr>
            <a:r>
              <a:rPr lang="en-US" sz="1462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print(olcumler[1:3])                       # [231.2, 230.5]</a:t>
            </a:r>
            <a:endParaRPr lang="en-US" sz="1462" dirty="0"/>
          </a:p>
          <a:p>
            <a:pPr indent="0" marL="0">
              <a:buNone/>
            </a:pPr>
            <a:r>
              <a:rPr lang="en-US" sz="1462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olcumler.append(230.7)</a:t>
            </a:r>
            <a:endParaRPr lang="en-US" sz="1462" dirty="0"/>
          </a:p>
          <a:p>
            <a:pPr indent="0" marL="0">
              <a:buNone/>
            </a:pPr>
            <a:r>
              <a:rPr lang="en-US" sz="1462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print(sum(olcumler) / len(olcumler))       # ortalama</a:t>
            </a:r>
            <a:endParaRPr lang="en-US" sz="1462" dirty="0"/>
          </a:p>
          <a:p>
            <a:pPr indent="0" marL="0">
              <a:buNone/>
            </a:pPr>
            <a:r>
              <a:rPr lang="en-US" sz="1462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62" dirty="0"/>
          </a:p>
          <a:p>
            <a:pPr indent="0" marL="0">
              <a:buNone/>
            </a:pPr>
            <a:r>
              <a:rPr lang="en-US" sz="1462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direncler = {"R1": 100, "R2": 220}</a:t>
            </a:r>
            <a:endParaRPr lang="en-US" sz="1462" dirty="0"/>
          </a:p>
          <a:p>
            <a:pPr indent="0" marL="0">
              <a:buNone/>
            </a:pPr>
            <a:r>
              <a:rPr lang="en-US" sz="1462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direncler["R3"] = 470</a:t>
            </a:r>
            <a:endParaRPr lang="en-US" sz="1462" dirty="0"/>
          </a:p>
          <a:p>
            <a:pPr indent="0" marL="0">
              <a:buNone/>
            </a:pPr>
            <a:r>
              <a:rPr lang="en-US" sz="1462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print(direncler["R2"])                     # 220</a:t>
            </a:r>
            <a:endParaRPr lang="en-US" sz="1462" dirty="0"/>
          </a:p>
        </p:txBody>
      </p:sp>
      <p:sp>
        <p:nvSpPr>
          <p:cNvPr id="7" name="Text 5"/>
          <p:cNvSpPr txBox="1"/>
          <p:nvPr/>
        </p:nvSpPr>
        <p:spPr>
          <a:xfrm>
            <a:off x="8412480" y="1280160"/>
            <a:ext cx="323057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f-string: {değişken:.1f} → biçimli yazdırma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İndeks 0'dan başlar; negatif indeks sondan sayar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Dilim [a:b] — b dâhil değil (Python'un her yerinde aynı)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dict: isimle erişim; ayarlar, sabitler için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indeksleme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Liste, sıralı bir değer koleksiyonudur: ölçüm serileri, sensör okumaları burada tutulur. Elemanlara sıfırdan başlayan indeksle erişilir; negatif indeks sondan sayar; dilimlemede bitiş dâhil değildir.</a:t>
            </a:r>
            <a:endParaRPr lang="en-US" sz="1500" dirty="0"/>
          </a:p>
        </p:txBody>
      </p:sp>
      <p:pic>
        <p:nvPicPr>
          <p:cNvPr id="6" name="Image 0" descr="/home/claude/yz_temelleri/img/liste_inde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409590"/>
            <a:ext cx="11094415" cy="32732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8064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Şekil 2.1 İleri (0'dan) ve geri (−1'den) indeksler, dilimleme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Koşullar: if / elif / else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Programın akışını iki yapı yönlendirir: koşul (doğruysa yap) ve döngü (tekrar yap). Yandaki akış diyagramı bir aşırı akım koruma kararıdır.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86000"/>
            <a:ext cx="56692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Girinti (4 boşluk) bloğu belirler — süslü parantez yok; okunabilirlik zorunlu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Karşılaştırma: &gt;, &lt;, &gt;=, &lt;=, ==, !=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Mantık: and, or, not; üyelik: in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satır: durum = 'AŞIRI' if akim &gt; 16 else 'normal'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elif: birden çok eşik sırayla denenir; ilk doğru olan çalışır</a:t>
            </a:r>
            <a:endParaRPr lang="en-US" sz="1600" dirty="0"/>
          </a:p>
        </p:txBody>
      </p:sp>
      <p:pic>
        <p:nvPicPr>
          <p:cNvPr id="7" name="Image 0" descr="/home/claude/yz_temelleri/img/akis_i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2297274"/>
            <a:ext cx="5242255" cy="354361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0" y="5897880"/>
            <a:ext cx="5242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Şekil 2.2 Aşırı akım kararı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ve for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7498080" cy="4914900"/>
          </a:xfrm>
          <a:prstGeom prst="rect">
            <a:avLst/>
          </a:prstGeom>
          <a:solidFill>
            <a:srgbClr val="F3F3F1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417320"/>
            <a:ext cx="7132320" cy="4640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akim = 18.2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akim &gt; 16: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print("Aşırı akım! Röle açılıyor.")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akim &gt; 12: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print("Uyarı: yük yüksek.")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print("Normal çalışma.")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olcumler = [14.1, 15.8, 17.3, 12.0, 16.5]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i, akim in enumerate(olcumler):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durum = "AŞIRI" if akim &gt; 16 else "normal"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print(f"Örnek {i}: {akim} A -&gt; {durum}")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k in range(5):        # 0,1,2,3,4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print(k, k ** 2)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412480" y="1280160"/>
            <a:ext cx="323057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for: koleksiyonun her elemanı için bloğu bir kez çalıştırır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enumerate: indeks + değer birlikte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range(n): 0..n−1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Sayısal simülasyonların iskeleti bir döngüdür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while: RC deşarjı (Euler adımı)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7498080" cy="2176059"/>
          </a:xfrm>
          <a:prstGeom prst="rect">
            <a:avLst/>
          </a:prstGeom>
          <a:solidFill>
            <a:srgbClr val="F3F3F1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417320"/>
            <a:ext cx="7132320" cy="1901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87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V0, R, C, dt = 5.0, 1000, 1e-3, 0.001    # V, ohm, F, s</a:t>
            </a:r>
            <a:endParaRPr lang="en-US" sz="1487" dirty="0"/>
          </a:p>
          <a:p>
            <a:pPr indent="0" marL="0">
              <a:buNone/>
            </a:pPr>
            <a:r>
              <a:rPr lang="en-US" sz="1487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V, t = V0, 0.0</a:t>
            </a:r>
            <a:endParaRPr lang="en-US" sz="1487" dirty="0"/>
          </a:p>
          <a:p>
            <a:pPr indent="0" marL="0">
              <a:buNone/>
            </a:pPr>
            <a:r>
              <a:rPr lang="en-US" sz="1487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V &gt; 0.05 * V0:                     # %5'e inene kadar</a:t>
            </a:r>
            <a:endParaRPr lang="en-US" sz="1487" dirty="0"/>
          </a:p>
          <a:p>
            <a:pPr indent="0" marL="0">
              <a:buNone/>
            </a:pPr>
            <a:r>
              <a:rPr lang="en-US" sz="1487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 = V - (V / (R * C)) * dt           # dV/dt = -V/(RC)</a:t>
            </a:r>
            <a:endParaRPr lang="en-US" sz="1487" dirty="0"/>
          </a:p>
          <a:p>
            <a:pPr indent="0" marL="0">
              <a:buNone/>
            </a:pPr>
            <a:r>
              <a:rPr lang="en-US" sz="1487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 += dt</a:t>
            </a:r>
            <a:endParaRPr lang="en-US" sz="1487" dirty="0"/>
          </a:p>
          <a:p>
            <a:pPr indent="0" marL="0">
              <a:buNone/>
            </a:pPr>
            <a:r>
              <a:rPr lang="en-US" sz="1487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print(f"süre ≈ {t:.3f} s  (teorik 3RC = {3*R*C:.3f} s)")</a:t>
            </a:r>
            <a:endParaRPr lang="en-US" sz="1487" dirty="0"/>
          </a:p>
          <a:p>
            <a:pPr indent="0" marL="0">
              <a:buNone/>
            </a:pPr>
            <a:r>
              <a:rPr lang="en-US" sz="1487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süre ≈ 2.995 s  (teorik 3RC = 3.000 s)</a:t>
            </a:r>
            <a:endParaRPr lang="en-US" sz="1487" dirty="0"/>
          </a:p>
        </p:txBody>
      </p:sp>
      <p:sp>
        <p:nvSpPr>
          <p:cNvPr id="7" name="Text 5"/>
          <p:cNvSpPr txBox="1"/>
          <p:nvPr/>
        </p:nvSpPr>
        <p:spPr>
          <a:xfrm>
            <a:off x="8412480" y="1280160"/>
            <a:ext cx="323057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while: koşul doğru olduğu sürece; tur sayısı önceden bilinmez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bir sayısal integrasyondur (Euler): dt küçüldükçe doğruluk artar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Deneyin: dt = 0.05 → hata büyür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MÖ'deki 'öğrenme oranı' da böyle bir adım büyüklüğüdür (5. hafta)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Sonsuz döngüye dikkat: koşul bir gün yanlış olmalı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Fonksiyonlar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7498080" cy="4434168"/>
          </a:xfrm>
          <a:prstGeom prst="rect">
            <a:avLst/>
          </a:prstGeom>
          <a:solidFill>
            <a:srgbClr val="F3F3F1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417320"/>
            <a:ext cx="7132320" cy="415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21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seri(*direncler):</a:t>
            </a:r>
            <a:endParaRPr lang="en-US" sz="1721" dirty="0"/>
          </a:p>
          <a:p>
            <a:pPr indent="0" marL="0">
              <a:buNone/>
            </a:pPr>
            <a:r>
              <a:rPr lang="en-US" sz="1721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"""Seri eşdeğer: toplam."""</a:t>
            </a:r>
            <a:endParaRPr lang="en-US" sz="1721" dirty="0"/>
          </a:p>
          <a:p>
            <a:pPr indent="0" marL="0">
              <a:buNone/>
            </a:pPr>
            <a:r>
              <a:rPr lang="en-US" sz="1721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sum(direncler)</a:t>
            </a:r>
            <a:endParaRPr lang="en-US" sz="1721" dirty="0"/>
          </a:p>
          <a:p>
            <a:pPr indent="0" marL="0">
              <a:buNone/>
            </a:pPr>
            <a:r>
              <a:rPr lang="en-US" sz="1721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721" dirty="0"/>
          </a:p>
          <a:p>
            <a:pPr indent="0" marL="0">
              <a:buNone/>
            </a:pPr>
            <a:r>
              <a:rPr lang="en-US" sz="1721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paralel(*direncler):</a:t>
            </a:r>
            <a:endParaRPr lang="en-US" sz="1721" dirty="0"/>
          </a:p>
          <a:p>
            <a:pPr indent="0" marL="0">
              <a:buNone/>
            </a:pPr>
            <a:r>
              <a:rPr lang="en-US" sz="1721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"""Paralel eşdeğer: 1 / (1/R1 + 1/R2 + ...)."""</a:t>
            </a:r>
            <a:endParaRPr lang="en-US" sz="1721" dirty="0"/>
          </a:p>
          <a:p>
            <a:pPr indent="0" marL="0">
              <a:buNone/>
            </a:pPr>
            <a:r>
              <a:rPr lang="en-US" sz="1721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1 / sum(1 / R for R in direncler)</a:t>
            </a:r>
            <a:endParaRPr lang="en-US" sz="1721" dirty="0"/>
          </a:p>
          <a:p>
            <a:pPr indent="0" marL="0">
              <a:buNone/>
            </a:pPr>
            <a:r>
              <a:rPr lang="en-US" sz="1721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721" dirty="0"/>
          </a:p>
          <a:p>
            <a:pPr indent="0" marL="0">
              <a:buNone/>
            </a:pPr>
            <a:r>
              <a:rPr lang="en-US" sz="1721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gerilim_bolucu(vin, r1, r2):</a:t>
            </a:r>
            <a:endParaRPr lang="en-US" sz="1721" dirty="0"/>
          </a:p>
          <a:p>
            <a:pPr indent="0" marL="0">
              <a:buNone/>
            </a:pPr>
            <a:r>
              <a:rPr lang="en-US" sz="1721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vin * r2 / (r1 + r2)</a:t>
            </a:r>
            <a:endParaRPr lang="en-US" sz="1721" dirty="0"/>
          </a:p>
          <a:p>
            <a:pPr indent="0" marL="0">
              <a:buNone/>
            </a:pPr>
            <a:r>
              <a:rPr lang="en-US" sz="1721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721" dirty="0"/>
          </a:p>
          <a:p>
            <a:pPr indent="0" marL="0">
              <a:buNone/>
            </a:pPr>
            <a:r>
              <a:rPr lang="en-US" sz="1721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print(seri(100, 220, 470))                # 790</a:t>
            </a:r>
            <a:endParaRPr lang="en-US" sz="1721" dirty="0"/>
          </a:p>
          <a:p>
            <a:pPr indent="0" marL="0">
              <a:buNone/>
            </a:pPr>
            <a:r>
              <a:rPr lang="en-US" sz="1721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print(round(paralel(100, 220, 470), 2))   # 58.68</a:t>
            </a:r>
            <a:endParaRPr lang="en-US" sz="1721" dirty="0"/>
          </a:p>
          <a:p>
            <a:pPr indent="0" marL="0">
              <a:buNone/>
            </a:pPr>
            <a:r>
              <a:rPr lang="en-US" sz="1721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print(gerilim_bolucu(12, 10_000, 4_700))  # 3.84</a:t>
            </a:r>
            <a:endParaRPr lang="en-US" sz="1721" dirty="0"/>
          </a:p>
        </p:txBody>
      </p:sp>
      <p:sp>
        <p:nvSpPr>
          <p:cNvPr id="7" name="Text 5"/>
          <p:cNvSpPr txBox="1"/>
          <p:nvPr/>
        </p:nvSpPr>
        <p:spPr>
          <a:xfrm>
            <a:off x="8412480" y="1280160"/>
            <a:ext cx="323057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hesabı iki kez yazıyorsanız fonksiyon yazın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 isim(parametreler): ... return sonuç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Docstring: ne yaptığını anlatır (help() gösterir)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*direncler: istediği kadar argüman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≠ return: print ekrana yazar, return değeri verir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2.1 — Direnç renk kodu çözücü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4415" cy="4937760"/>
          </a:xfrm>
          <a:prstGeom prst="rect">
            <a:avLst/>
          </a:prstGeom>
          <a:solidFill>
            <a:srgbClr val="FBF6EE"/>
          </a:solidFill>
          <a:ln w="12700">
            <a:solidFill>
              <a:srgbClr val="E0C9A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46304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üç bandın renklerinden direnç değerini hesaplayan fonksiyon (Kahverengi-Siyah-Kırmızı → 10 × 10² = 1000 Ω)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1054577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Fikir: ilk iki bant iki basamaklı sayı, üçüncü bant 10'un kuvveti → (10·b1 + b2) × 10^b3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RENK = {'siyah': 0, 'kahverengi': 1, 'kırmızı': 2, 'turuncu': 3, 'sarı': 4, 'yeşil': 5, 'mavi': 6, 'mor': 7, 'gri': 8, 'beyaz': 9}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 direnc_degeri(b1, b2, b3):  return (10*RENK[b1] + RENK[b2]) * 10**RENK[b3]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direnc_degeri('kahverengi', 'siyah', 'kırmızı') → 1000;   direnc_degeri('sarı', 'mor', 'turuncu') → 47000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Sözlük + fonksiyon + üs alma bir arada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Alıştırma: 4. bandı (tolerans) ekleyin, (değer, tolerans) döndürün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NumPy: sayısal hesaplamanın temeli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Makine öğrenmesinde veri neredeyse her zaman NumPy dizisi (ya da ondan türeyen pandas tablosu / PyTorch tensörü) olarak tutulur. Bu haftanın en önemli konusu budur.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86000"/>
            <a:ext cx="110944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ndarray: tüm elemanlar aynı tipte, bellekte ardışık → C hızında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Aritmetik operatörler tüm elemanlara birden uygulanır (vektörel işlem)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shape: (4,) vektör, (2,3) matris, (2,2,2) tensör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MÖ'de veri matrisi = (örnek sayısı, özellik sayısı): 720 saat × 3 özellik → (720, 3)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Hataların çoğu shape uyumsuzluğu: şüphelendiğinizde print(x.shape)</a:t>
            </a:r>
            <a:endParaRPr lang="en-US" sz="1600" dirty="0"/>
          </a:p>
        </p:txBody>
      </p:sp>
      <p:pic>
        <p:nvPicPr>
          <p:cNvPr id="7" name="Image 0" descr="/home/claude/yz_temelleri/img/numpy_boy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3042" y="4023360"/>
            <a:ext cx="6485611" cy="19202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58521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Şekil 2.3 Boyutlar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temelleri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7498080" cy="2968371"/>
          </a:xfrm>
          <a:prstGeom prst="rect">
            <a:avLst/>
          </a:prstGeom>
          <a:solidFill>
            <a:srgbClr val="F3F3F1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417320"/>
            <a:ext cx="7132320" cy="2694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7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170" dirty="0"/>
          </a:p>
          <a:p>
            <a:pPr indent="0" marL="0">
              <a:buNone/>
            </a:pPr>
            <a:r>
              <a:rPr lang="en-US" sz="117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np.array([2, 5, 1, 7])                 # (4,)</a:t>
            </a:r>
            <a:endParaRPr lang="en-US" sz="1170" dirty="0"/>
          </a:p>
          <a:p>
            <a:pPr indent="0" marL="0">
              <a:buNone/>
            </a:pPr>
            <a:r>
              <a:rPr lang="en-US" sz="117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= np.array([[1, 0, 2], [4, 3, 5]])       # (2, 3)</a:t>
            </a:r>
            <a:endParaRPr lang="en-US" sz="1170" dirty="0"/>
          </a:p>
          <a:p>
            <a:pPr indent="0" marL="0">
              <a:buNone/>
            </a:pPr>
            <a:r>
              <a:rPr lang="en-US" sz="117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print(M[1, 2], M[:, 0])                    # 5 [1 4]</a:t>
            </a:r>
            <a:endParaRPr lang="en-US" sz="1170" dirty="0"/>
          </a:p>
          <a:p>
            <a:pPr indent="0" marL="0">
              <a:buNone/>
            </a:pPr>
            <a:r>
              <a:rPr lang="en-US" sz="117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70" dirty="0"/>
          </a:p>
          <a:p>
            <a:pPr indent="0" marL="0">
              <a:buNone/>
            </a:pPr>
            <a:r>
              <a:rPr lang="en-US" sz="117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np.array([0.5, 1.0, 1.5, 2.0])         # A</a:t>
            </a:r>
            <a:endParaRPr lang="en-US" sz="1170" dirty="0"/>
          </a:p>
          <a:p>
            <a:pPr indent="0" marL="0">
              <a:buNone/>
            </a:pPr>
            <a:r>
              <a:rPr lang="en-US" sz="117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= I * 100                                # Ohm kanunu, döngüsüz</a:t>
            </a:r>
            <a:endParaRPr lang="en-US" sz="1170" dirty="0"/>
          </a:p>
          <a:p>
            <a:pPr indent="0" marL="0">
              <a:buNone/>
            </a:pPr>
            <a:r>
              <a:rPr lang="en-US" sz="117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print(V, V.mean(), V.std(), V.argmax())</a:t>
            </a:r>
            <a:endParaRPr lang="en-US" sz="1170" dirty="0"/>
          </a:p>
          <a:p>
            <a:pPr indent="0" marL="0">
              <a:buNone/>
            </a:pPr>
            <a:r>
              <a:rPr lang="en-US" sz="117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print(V[V &gt; 120])                          # mantıksal maske -&gt; [150. 200.]</a:t>
            </a:r>
            <a:endParaRPr lang="en-US" sz="1170" dirty="0"/>
          </a:p>
          <a:p>
            <a:pPr indent="0" marL="0">
              <a:buNone/>
            </a:pPr>
            <a:r>
              <a:rPr lang="en-US" sz="117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70" dirty="0"/>
          </a:p>
          <a:p>
            <a:pPr indent="0" marL="0">
              <a:buNone/>
            </a:pPr>
            <a:r>
              <a:rPr lang="en-US" sz="117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print(np.linspace(0, 1, 5))                # 5 nokta, bitiş dâhil</a:t>
            </a:r>
            <a:endParaRPr lang="en-US" sz="1170" dirty="0"/>
          </a:p>
          <a:p>
            <a:pPr indent="0" marL="0">
              <a:buNone/>
            </a:pPr>
            <a:r>
              <a:rPr lang="en-US" sz="117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rng = np.random.default_rng(0)             # tekrarlanabilir (seed)</a:t>
            </a:r>
            <a:endParaRPr lang="en-US" sz="1170" dirty="0"/>
          </a:p>
          <a:p>
            <a:pPr indent="0" marL="0">
              <a:buNone/>
            </a:pPr>
            <a:r>
              <a:rPr lang="en-US" sz="117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print(rng.normal(0, 1, 3))</a:t>
            </a:r>
            <a:endParaRPr lang="en-US" sz="1170" dirty="0"/>
          </a:p>
        </p:txBody>
      </p:sp>
      <p:sp>
        <p:nvSpPr>
          <p:cNvPr id="7" name="Text 5"/>
          <p:cNvSpPr txBox="1"/>
          <p:nvPr/>
        </p:nvSpPr>
        <p:spPr>
          <a:xfrm>
            <a:off x="8412480" y="1280160"/>
            <a:ext cx="323057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İndeks: [satır, sütun]; ':' tümü demek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Mantıksal maske: koşul → True/False dizisi → seçim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sabitleme = tekrarlanabilir deney; ödevlerde yapın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Lineer cebir: A x = b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7498080" cy="1827642"/>
          </a:xfrm>
          <a:prstGeom prst="rect">
            <a:avLst/>
          </a:prstGeom>
          <a:solidFill>
            <a:srgbClr val="F3F3F1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417320"/>
            <a:ext cx="7132320" cy="1553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6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np.array([[2, 1], [1, 3]])</a:t>
            </a:r>
            <a:endParaRPr lang="en-US" sz="1186" dirty="0"/>
          </a:p>
          <a:p>
            <a:pPr indent="0" marL="0">
              <a:buNone/>
            </a:pPr>
            <a:r>
              <a:rPr lang="en-US" sz="1186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np.array([5, 10])</a:t>
            </a:r>
            <a:endParaRPr lang="en-US" sz="1186" dirty="0"/>
          </a:p>
          <a:p>
            <a:pPr indent="0" marL="0">
              <a:buNone/>
            </a:pPr>
            <a:r>
              <a:rPr lang="en-US" sz="1186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 @ b)                  # matris-vektör çarpımı -&gt; [20 35]</a:t>
            </a:r>
            <a:endParaRPr lang="en-US" sz="1186" dirty="0"/>
          </a:p>
          <a:p>
            <a:pPr indent="0" marL="0">
              <a:buNone/>
            </a:pPr>
            <a:r>
              <a:rPr lang="en-US" sz="1186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print(A.T)                    # transpoz</a:t>
            </a:r>
            <a:endParaRPr lang="en-US" sz="1186" dirty="0"/>
          </a:p>
          <a:p>
            <a:pPr indent="0" marL="0">
              <a:buNone/>
            </a:pPr>
            <a:r>
              <a:rPr lang="en-US" sz="1186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print(np.linalg.solve(A, b))  # çözüm -&gt; [1. 3.]</a:t>
            </a:r>
            <a:endParaRPr lang="en-US" sz="1186" dirty="0"/>
          </a:p>
          <a:p>
            <a:pPr indent="0" marL="0">
              <a:buNone/>
            </a:pPr>
            <a:r>
              <a:rPr lang="en-US" sz="1186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print(np.linalg.inv(A))       # ters matris</a:t>
            </a:r>
            <a:endParaRPr lang="en-US" sz="1186" dirty="0"/>
          </a:p>
          <a:p>
            <a:pPr indent="0" marL="0">
              <a:buNone/>
            </a:pPr>
            <a:r>
              <a:rPr lang="en-US" sz="1186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 * A)                  # DİKKAT: eleman bazlı, matris çarpımı değil</a:t>
            </a:r>
            <a:endParaRPr lang="en-US" sz="1186" dirty="0"/>
          </a:p>
        </p:txBody>
      </p:sp>
      <p:sp>
        <p:nvSpPr>
          <p:cNvPr id="7" name="Text 5"/>
          <p:cNvSpPr txBox="1"/>
          <p:nvPr/>
        </p:nvSpPr>
        <p:spPr>
          <a:xfrm>
            <a:off x="8412480" y="1280160"/>
            <a:ext cx="323057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2.2 — düğüm denklemleri: 2V₁ + V₂ = 5, V₁ + 3V₂ = 10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Elle: V₂ = 5 − 2V₁ → V₁ + 15 − 6V₁ = 10 → V₁ = 1, V₂ = 3 V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tek satırda aynı sonucu verir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Determinant 0 ise hata: düğüm seçimi yanlış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haftada en küçük kareler de bir A x = b çözümü olacak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2.3 — RMS: elle ve NumPy ile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4415" cy="4937760"/>
          </a:xfrm>
          <a:prstGeom prst="rect">
            <a:avLst/>
          </a:prstGeom>
          <a:solidFill>
            <a:srgbClr val="FBF6EE"/>
          </a:solidFill>
          <a:ln w="12700">
            <a:solidFill>
              <a:srgbClr val="E0C9A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46304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[3, −1, 2, −2] örneklerinin RMS (etkin) değeri?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1054577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 = √( (1/N) Σ xᵢ² 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√( (9 + 1 + 4 + 4) / 4 ) = √(18/4) = √4.5 ≈ 2.121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np.sqrt(np.mean(x**2)) → 2.121  — üç işlem, formülün üç adımı; döngü yok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Şebeke: tepe 230√2 V olan 50 Hz sinüsün RMS'i 230 V olmalı → sonraki slayt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Sinyal üretme ve ilk grafik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7498080" cy="3109845"/>
          </a:xfrm>
          <a:prstGeom prst="rect">
            <a:avLst/>
          </a:prstGeom>
          <a:solidFill>
            <a:srgbClr val="F3F3F1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417320"/>
            <a:ext cx="7132320" cy="2835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6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np, matplotlib.pyplot as plt</a:t>
            </a:r>
            <a:endParaRPr lang="en-US" sz="1236" dirty="0"/>
          </a:p>
          <a:p>
            <a:pPr indent="0" marL="0">
              <a:buNone/>
            </a:pPr>
            <a:r>
              <a:rPr lang="en-US" sz="1236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fs = 1000</a:t>
            </a:r>
            <a:endParaRPr lang="en-US" sz="1236" dirty="0"/>
          </a:p>
          <a:p>
            <a:pPr indent="0" marL="0">
              <a:buNone/>
            </a:pPr>
            <a:r>
              <a:rPr lang="en-US" sz="1236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np.arange(0, 0.1, 1/fs)                       # 0..0.1 s, 100 örnek</a:t>
            </a:r>
            <a:endParaRPr lang="en-US" sz="1236" dirty="0"/>
          </a:p>
          <a:p>
            <a:pPr indent="0" marL="0">
              <a:buNone/>
            </a:pPr>
            <a:r>
              <a:rPr lang="en-US" sz="1236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= 230*np.sqrt(2)*np.sin(2*np.pi*50*t)           # ideal 50 Hz</a:t>
            </a:r>
            <a:endParaRPr lang="en-US" sz="1236" dirty="0"/>
          </a:p>
          <a:p>
            <a:pPr indent="0" marL="0">
              <a:buNone/>
            </a:pPr>
            <a:r>
              <a:rPr lang="en-US" sz="1236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rng = np.random.default_rng(0)</a:t>
            </a:r>
            <a:endParaRPr lang="en-US" sz="1236" dirty="0"/>
          </a:p>
          <a:p>
            <a:pPr indent="0" marL="0">
              <a:buNone/>
            </a:pPr>
            <a:r>
              <a:rPr lang="en-US" sz="1236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v_olcum = v + rng.normal(0, 25, size=t.size)      # gürültü</a:t>
            </a:r>
            <a:endParaRPr lang="en-US" sz="1236" dirty="0"/>
          </a:p>
          <a:p>
            <a:pPr indent="0" marL="0">
              <a:buNone/>
            </a:pPr>
            <a:r>
              <a:rPr lang="en-US" sz="1236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36" dirty="0"/>
          </a:p>
          <a:p>
            <a:pPr indent="0" marL="0">
              <a:buNone/>
            </a:pPr>
            <a:r>
              <a:rPr lang="en-US" sz="1236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print(np.sqrt(np.mean(v**2)).round(2))            # 230.0</a:t>
            </a:r>
            <a:endParaRPr lang="en-US" sz="1236" dirty="0"/>
          </a:p>
          <a:p>
            <a:pPr indent="0" marL="0">
              <a:buNone/>
            </a:pPr>
            <a:r>
              <a:rPr lang="en-US" sz="1236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print(np.sqrt(np.mean(v_olcum**2)).round(2))      # 235.48</a:t>
            </a:r>
            <a:endParaRPr lang="en-US" sz="1236" dirty="0"/>
          </a:p>
          <a:p>
            <a:pPr indent="0" marL="0">
              <a:buNone/>
            </a:pPr>
            <a:r>
              <a:rPr lang="en-US" sz="1236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36" dirty="0"/>
          </a:p>
          <a:p>
            <a:pPr indent="0" marL="0">
              <a:buNone/>
            </a:pPr>
            <a:r>
              <a:rPr lang="en-US" sz="1236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plt.plot(t*1000, v_olcum, label="ölçüm", lw=1)</a:t>
            </a:r>
            <a:endParaRPr lang="en-US" sz="1236" dirty="0"/>
          </a:p>
          <a:p>
            <a:pPr indent="0" marL="0">
              <a:buNone/>
            </a:pPr>
            <a:r>
              <a:rPr lang="en-US" sz="1236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plt.plot(t*1000, v, label="ideal", lw=2)</a:t>
            </a:r>
            <a:endParaRPr lang="en-US" sz="1236" dirty="0"/>
          </a:p>
          <a:p>
            <a:pPr indent="0" marL="0">
              <a:buNone/>
            </a:pPr>
            <a:r>
              <a:rPr lang="en-US" sz="1236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plt.xlabel("Zaman (ms)"); plt.ylabel("V"); plt.legend(); plt.show()</a:t>
            </a:r>
            <a:endParaRPr lang="en-US" sz="1236" dirty="0"/>
          </a:p>
        </p:txBody>
      </p:sp>
      <p:sp>
        <p:nvSpPr>
          <p:cNvPr id="7" name="Text 5"/>
          <p:cNvSpPr txBox="1"/>
          <p:nvPr/>
        </p:nvSpPr>
        <p:spPr>
          <a:xfrm>
            <a:off x="8412480" y="1280160"/>
            <a:ext cx="323057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Zaman ekseni: fs = 1000 Hz → 1 ms aralık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np.sin tüm zaman noktalarını tek seferde hesaplar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Ölçüm RMS ideal olandan BÜYÜK: RMS² = sinyal gücü + gürültü gücü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√(230² + 25²) ≈ 231.4 V beklenir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haftada 'varyans' olarak geri gelecek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 grafiği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grafik aynı beş adımdır: figür, çizim (plot/scatter/hist), eksen etiketi, açıklama + ızgara, göster. Eksen etiketi ve birimi olmayan grafik mühendislik raporunda kabul edilmez.</a:t>
            </a:r>
            <a:endParaRPr lang="en-US" sz="1500" dirty="0"/>
          </a:p>
        </p:txBody>
      </p:sp>
      <p:pic>
        <p:nvPicPr>
          <p:cNvPr id="6" name="Image 0" descr="/home/claude/yz_temelleri/img/sinyal_nump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80725" y="2286000"/>
            <a:ext cx="6430246" cy="35204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8064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İdeal 50 Hz sinüs ve gürültülü ölçüm; kesikli çizgi RMS = 230 V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matplotlib fonksiyonları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2852850"/>
                <a:gridCol w="3645308"/>
                <a:gridCol w="459625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Fonksiyon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 çizer?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Örnek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plt.plot(x, y)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Çizgi (zaman serisi, sinyal)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plt.plot(t, v, lw=2, label='ideal')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plt.scatter(x, y)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Saçılım (iki değişken ilişkisi)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plt.scatter(sicaklik, tuketim, s=8)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plt.hist(x, bins)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Histogram (dağılım)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plt.hist(tuketim, bins=30)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plt.bar(kat, deger)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Çubuk (kategorik)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plt.bar(['R1','R2'], [100, 220])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plt.subplots(1, 3)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Yan yana birden çok eksen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fig, ax = plt.subplots(1, 3, figsize=(12, 3))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2.4 — Döngü mü, vektör mü?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4415" cy="4937760"/>
          </a:xfrm>
          <a:prstGeom prst="rect">
            <a:avLst/>
          </a:prstGeom>
          <a:solidFill>
            <a:srgbClr val="FBF6EE"/>
          </a:solidFill>
          <a:ln w="12700">
            <a:solidFill>
              <a:srgbClr val="E0C9A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46304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milyon sayının karesini almak: Python döngüsü vs NumPy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1054577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np.arange(1_000_000, dtype=float)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Döngü: [xi**2 for xi in x]  → ≈ 0.10 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NumPy: x**2  → ≈ 0.003 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Hızlanma ≈ 30-200x (donanıma göre)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Neden: Python döngüsü her elemanda tip kontrolü yapar; NumPy derlenmiş C kodunda ardışık bellekte çalışır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Kural: sayısal veride döngü yerine dizi işlemi. 60.000 görüntüde bu, saniyeler ile saatler arasındaki farktır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Sık yapılan hatalar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 başlayanların hatalarının çoğu bu türlere girer. Mesajın son satırını okuyup tabloda bulmak sorunu çoğu zaman 30 saniyede çözer.</a:t>
            </a:r>
            <a:endParaRPr lang="en-US" sz="15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86000"/>
          <a:ext cx="11094415" cy="914400"/>
        </p:xfrm>
        <a:graphic>
          <a:graphicData uri="http://schemas.openxmlformats.org/drawingml/2006/table">
            <a:tbl>
              <a:tblPr/>
              <a:tblGrid>
                <a:gridCol w="3081782"/>
                <a:gridCol w="4006317"/>
                <a:gridCol w="400631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Hata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Sebep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Çözüm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IndentationError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Girinti tutarsız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boşluk; Tab/boşluk karıştırma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NameError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Tanımsız değişken / hücre çalıştırılmadı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Önceki hücreleri sırayla çalıştır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IndexError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Olmayan indeks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 eleman len−1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TypeError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Uyumsuz tipler (liste × sayı)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np.array'e çevir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ValueError: broadcast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Dizi boyutları uyumsuz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shape'leri yazdır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ZeroDivisionError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Sıfıra bölme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Paydayı kontrol et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KeyError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Sözlükte olmayan anahtar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'k' in d ile kontrol; .get()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Sınıf içi alıştırmalar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225 V altı / 235 V üstü ölçümleri sayma (for + if); sonra NumPy maskesi ile tek satırda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asal_mi(n) fonksiyonu; 2-50 arası asallar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ve cos aynı grafikte (linspace, legend, eksen etiketi)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Direnç renk kodu: tolerans bandı ekleyin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Gürültü std = 0, 10, 25, 50 V için RMS tablosu; √(230² + σ²) ile karşılaştırın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 RLC (R=10 Ω, L=50 mH, C=100 µF): 10-1000 Hz |Z| eğrisi ve rezonans frekansı</a:t>
            </a:r>
            <a:endParaRPr 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Ödev 1 — Python ısınma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Hafta02 defterindeki 6 alıştırma (fonksiyon, döngü, NumPy, grafik)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kendi 10 ölçümünüzden ortalama, std, min, max + bir cümle yorum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Teslim: Colab bağlantısı; 'Restart and run all' hatasız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Gelecek hafta: pandas ve dersin veri seti ile keşifsel veri analizi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Hafta 2 — Python ile Isınma</dc:title>
  <dc:subject>PptxGenJS Presentation</dc:subject>
  <dc:creator>PptxGenJS</dc:creator>
  <cp:lastModifiedBy>PptxGenJS</cp:lastModifiedBy>
  <cp:revision>1</cp:revision>
  <dcterms:created xsi:type="dcterms:W3CDTF">2026-09-22T15:39:39Z</dcterms:created>
  <dcterms:modified xsi:type="dcterms:W3CDTF">2026-09-22T15:39:39Z</dcterms:modified>
</cp:coreProperties>
</file>